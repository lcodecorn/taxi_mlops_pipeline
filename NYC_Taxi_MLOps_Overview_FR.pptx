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3" roundtripDataSignature="AMtx7miP3Wv3uQMZZPf0MRWq9rwKKm5K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F52E82-BDF4-4230-AC81-4B3E13574797}">
  <a:tblStyle styleId="{B8F52E82-BDF4-4230-AC81-4B3E13574797}"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7"/>
          <p:cNvSpPr/>
          <p:nvPr>
            <p:ph idx="2" type="pic"/>
          </p:nvPr>
        </p:nvSpPr>
        <p:spPr>
          <a:xfrm>
            <a:off x="1792288" y="612775"/>
            <a:ext cx="5486400" cy="4114800"/>
          </a:xfrm>
          <a:prstGeom prst="rect">
            <a:avLst/>
          </a:prstGeom>
          <a:noFill/>
          <a:ln>
            <a:noFill/>
          </a:ln>
        </p:spPr>
      </p:sp>
      <p:sp>
        <p:nvSpPr>
          <p:cNvPr id="64" name="Google Shape;64;p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E33"/>
        </a:solidFill>
      </p:bgPr>
    </p:bg>
    <p:spTree>
      <p:nvGrpSpPr>
        <p:cNvPr id="83" name="Shape 83"/>
        <p:cNvGrpSpPr/>
        <p:nvPr/>
      </p:nvGrpSpPr>
      <p:grpSpPr>
        <a:xfrm>
          <a:off x="0" y="0"/>
          <a:ext cx="0" cy="0"/>
          <a:chOff x="0" y="0"/>
          <a:chExt cx="0" cy="0"/>
        </a:xfrm>
      </p:grpSpPr>
      <p:sp>
        <p:nvSpPr>
          <p:cNvPr id="84" name="Google Shape;84;p1"/>
          <p:cNvSpPr txBox="1"/>
          <p:nvPr/>
        </p:nvSpPr>
        <p:spPr>
          <a:xfrm>
            <a:off x="914400" y="2377440"/>
            <a:ext cx="91440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3FDAD2"/>
                </a:solidFill>
                <a:latin typeface="Calibri"/>
                <a:ea typeface="Calibri"/>
                <a:cs typeface="Calibri"/>
                <a:sym typeface="Calibri"/>
              </a:rPr>
              <a:t>PROJET DE CERTIFICATION </a:t>
            </a:r>
            <a:r>
              <a:rPr b="1" lang="en-US" sz="1300">
                <a:solidFill>
                  <a:srgbClr val="3FDAD2"/>
                </a:solidFill>
                <a:latin typeface="Calibri"/>
                <a:ea typeface="Calibri"/>
                <a:cs typeface="Calibri"/>
                <a:sym typeface="Calibri"/>
              </a:rPr>
              <a:t>-</a:t>
            </a:r>
            <a:r>
              <a:rPr b="1" i="0" lang="en-US" sz="1300" u="none" cap="none" strike="noStrike">
                <a:solidFill>
                  <a:srgbClr val="3FDAD2"/>
                </a:solidFill>
                <a:latin typeface="Calibri"/>
                <a:ea typeface="Calibri"/>
                <a:cs typeface="Calibri"/>
                <a:sym typeface="Calibri"/>
              </a:rPr>
              <a:t> MLOPS / DATA ENGINEERING</a:t>
            </a:r>
            <a:endParaRPr/>
          </a:p>
        </p:txBody>
      </p:sp>
      <p:sp>
        <p:nvSpPr>
          <p:cNvPr id="85" name="Google Shape;85;p1"/>
          <p:cNvSpPr txBox="1"/>
          <p:nvPr/>
        </p:nvSpPr>
        <p:spPr>
          <a:xfrm>
            <a:off x="914400" y="2697480"/>
            <a:ext cx="1005840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400" u="none" cap="none" strike="noStrike">
                <a:solidFill>
                  <a:srgbClr val="FFFFFF"/>
                </a:solidFill>
                <a:latin typeface="Calibri"/>
                <a:ea typeface="Calibri"/>
                <a:cs typeface="Calibri"/>
                <a:sym typeface="Calibri"/>
              </a:rPr>
              <a:t>NYC Taxi Ride Demand &amp; Opportunity MLOps</a:t>
            </a:r>
            <a:endParaRPr/>
          </a:p>
        </p:txBody>
      </p:sp>
      <p:sp>
        <p:nvSpPr>
          <p:cNvPr id="86" name="Google Shape;86;p1"/>
          <p:cNvSpPr txBox="1"/>
          <p:nvPr/>
        </p:nvSpPr>
        <p:spPr>
          <a:xfrm>
            <a:off x="914400" y="3520440"/>
            <a:ext cx="960120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00" u="none" cap="none" strike="noStrike">
                <a:solidFill>
                  <a:srgbClr val="C9D3E6"/>
                </a:solidFill>
                <a:latin typeface="Calibri"/>
                <a:ea typeface="Calibri"/>
                <a:cs typeface="Calibri"/>
                <a:sym typeface="Calibri"/>
              </a:rPr>
              <a:t>Un pipeline de bout en bout qui ingère les données de taxis new-yorkais et de météo, construit un feature store</a:t>
            </a:r>
            <a:endParaRPr/>
          </a:p>
          <a:p>
            <a:pPr indent="0" lvl="0" marL="0" marR="0" rtl="0" algn="l">
              <a:spcBef>
                <a:spcPts val="0"/>
              </a:spcBef>
              <a:spcAft>
                <a:spcPts val="0"/>
              </a:spcAft>
              <a:buNone/>
            </a:pPr>
            <a:r>
              <a:rPr b="0" i="0" lang="en-US" sz="1300" u="none" cap="none" strike="noStrike">
                <a:solidFill>
                  <a:srgbClr val="C9D3E6"/>
                </a:solidFill>
                <a:latin typeface="Calibri"/>
                <a:ea typeface="Calibri"/>
                <a:cs typeface="Calibri"/>
                <a:sym typeface="Calibri"/>
              </a:rPr>
              <a:t>horaire par zone, entraîne une pile de 4 modèles, et diffuse des prévisions classées indiquant « où le</a:t>
            </a:r>
            <a:endParaRPr/>
          </a:p>
          <a:p>
            <a:pPr indent="0" lvl="0" marL="0" marR="0" rtl="0" algn="l">
              <a:spcBef>
                <a:spcPts val="0"/>
              </a:spcBef>
              <a:spcAft>
                <a:spcPts val="0"/>
              </a:spcAft>
              <a:buNone/>
            </a:pPr>
            <a:r>
              <a:rPr b="0" i="0" lang="en-US" sz="1300" u="none" cap="none" strike="noStrike">
                <a:solidFill>
                  <a:srgbClr val="C9D3E6"/>
                </a:solidFill>
                <a:latin typeface="Calibri"/>
                <a:ea typeface="Calibri"/>
                <a:cs typeface="Calibri"/>
                <a:sym typeface="Calibri"/>
              </a:rPr>
              <a:t>chauffeur devrait-il aller ensuite » via un service FastAPI et un tableau de bord cartographique Streamlit.</a:t>
            </a:r>
            <a:endParaRPr/>
          </a:p>
        </p:txBody>
      </p:sp>
      <p:sp>
        <p:nvSpPr>
          <p:cNvPr id="87" name="Google Shape;87;p1"/>
          <p:cNvSpPr/>
          <p:nvPr/>
        </p:nvSpPr>
        <p:spPr>
          <a:xfrm>
            <a:off x="914400" y="4526280"/>
            <a:ext cx="10332720" cy="18288"/>
          </a:xfrm>
          <a:prstGeom prst="rect">
            <a:avLst/>
          </a:prstGeom>
          <a:solidFill>
            <a:srgbClr val="33415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
          <p:cNvSpPr txBox="1"/>
          <p:nvPr/>
        </p:nvSpPr>
        <p:spPr>
          <a:xfrm>
            <a:off x="914400" y="4709160"/>
            <a:ext cx="1005840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A6372"/>
                </a:solidFill>
                <a:latin typeface="Calibri"/>
                <a:ea typeface="Calibri"/>
                <a:cs typeface="Calibri"/>
                <a:sym typeface="Calibri"/>
              </a:rPr>
              <a:t>Airflow  •  DuckDB  •  MLflow  •  LightGBM / XGBoost  •  FastAPI  •  Streamlit  •  AWS (S3, EC2, Lambda)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3"/>
          <p:cNvSpPr txBox="1"/>
          <p:nvPr/>
        </p:nvSpPr>
        <p:spPr>
          <a:xfrm>
            <a:off x="548640" y="320040"/>
            <a:ext cx="86868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E8743B"/>
                </a:solidFill>
                <a:latin typeface="Calibri"/>
                <a:ea typeface="Calibri"/>
                <a:cs typeface="Calibri"/>
                <a:sym typeface="Calibri"/>
              </a:rPr>
              <a:t>1. VUE D'ENSEMBLE</a:t>
            </a:r>
            <a:endParaRPr/>
          </a:p>
        </p:txBody>
      </p:sp>
      <p:sp>
        <p:nvSpPr>
          <p:cNvPr id="94" name="Google Shape;94;p3"/>
          <p:cNvSpPr txBox="1"/>
          <p:nvPr/>
        </p:nvSpPr>
        <p:spPr>
          <a:xfrm>
            <a:off x="548640" y="621792"/>
            <a:ext cx="105156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u="none" cap="none" strike="noStrike">
                <a:solidFill>
                  <a:srgbClr val="111E33"/>
                </a:solidFill>
                <a:latin typeface="Calibri"/>
                <a:ea typeface="Calibri"/>
                <a:cs typeface="Calibri"/>
                <a:sym typeface="Calibri"/>
              </a:rPr>
              <a:t>Problème &amp; objectif</a:t>
            </a:r>
            <a:endParaRPr/>
          </a:p>
        </p:txBody>
      </p:sp>
      <p:sp>
        <p:nvSpPr>
          <p:cNvPr id="95" name="Google Shape;95;p3"/>
          <p:cNvSpPr/>
          <p:nvPr/>
        </p:nvSpPr>
        <p:spPr>
          <a:xfrm>
            <a:off x="548640" y="1207008"/>
            <a:ext cx="822960" cy="36576"/>
          </a:xfrm>
          <a:prstGeom prst="rect">
            <a:avLst/>
          </a:prstGeom>
          <a:solidFill>
            <a:srgbClr val="E874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 name="Google Shape;96;p3"/>
          <p:cNvSpPr/>
          <p:nvPr/>
        </p:nvSpPr>
        <p:spPr>
          <a:xfrm>
            <a:off x="0" y="6537960"/>
            <a:ext cx="12191695" cy="91440"/>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 name="Google Shape;97;p3"/>
          <p:cNvSpPr txBox="1"/>
          <p:nvPr/>
        </p:nvSpPr>
        <p:spPr>
          <a:xfrm>
            <a:off x="365760" y="6565392"/>
            <a:ext cx="54864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A6372"/>
                </a:solidFill>
                <a:latin typeface="Calibri"/>
                <a:ea typeface="Calibri"/>
                <a:cs typeface="Calibri"/>
                <a:sym typeface="Calibri"/>
              </a:rPr>
              <a:t>NYC Taxi Ride Demand &amp; Opportunity MLOps</a:t>
            </a:r>
            <a:endParaRPr/>
          </a:p>
        </p:txBody>
      </p:sp>
      <p:sp>
        <p:nvSpPr>
          <p:cNvPr id="98" name="Google Shape;98;p3"/>
          <p:cNvSpPr txBox="1"/>
          <p:nvPr/>
        </p:nvSpPr>
        <p:spPr>
          <a:xfrm>
            <a:off x="9994392" y="6565392"/>
            <a:ext cx="1828800"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A6372"/>
                </a:solidFill>
                <a:latin typeface="Calibri"/>
                <a:ea typeface="Calibri"/>
                <a:cs typeface="Calibri"/>
                <a:sym typeface="Calibri"/>
              </a:rPr>
              <a:t>3 / 17</a:t>
            </a:r>
            <a:endParaRPr/>
          </a:p>
        </p:txBody>
      </p:sp>
      <p:sp>
        <p:nvSpPr>
          <p:cNvPr id="99" name="Google Shape;99;p3"/>
          <p:cNvSpPr txBox="1"/>
          <p:nvPr/>
        </p:nvSpPr>
        <p:spPr>
          <a:xfrm>
            <a:off x="548640" y="1691640"/>
            <a:ext cx="512064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2E5CB8"/>
                </a:solidFill>
                <a:latin typeface="Calibri"/>
                <a:ea typeface="Calibri"/>
                <a:cs typeface="Calibri"/>
                <a:sym typeface="Calibri"/>
              </a:rPr>
              <a:t>Problème</a:t>
            </a:r>
            <a:endParaRPr/>
          </a:p>
        </p:txBody>
      </p:sp>
      <p:sp>
        <p:nvSpPr>
          <p:cNvPr id="100" name="Google Shape;100;p3"/>
          <p:cNvSpPr txBox="1"/>
          <p:nvPr/>
        </p:nvSpPr>
        <p:spPr>
          <a:xfrm>
            <a:off x="548640" y="2057400"/>
            <a:ext cx="5120640" cy="10972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50" u="none" cap="none" strike="noStrike">
                <a:solidFill>
                  <a:srgbClr val="111E33"/>
                </a:solidFill>
                <a:latin typeface="Calibri"/>
                <a:ea typeface="Calibri"/>
                <a:cs typeface="Calibri"/>
                <a:sym typeface="Calibri"/>
              </a:rPr>
              <a:t>•  La demande de taxis, les tarifs, le trafic et la météo à New York varient d'heure en heure et de zone en zone</a:t>
            </a:r>
            <a:endParaRPr/>
          </a:p>
          <a:p>
            <a:pPr indent="0" lvl="0" marL="0" marR="0" rtl="0" algn="l">
              <a:spcBef>
                <a:spcPts val="0"/>
              </a:spcBef>
              <a:spcAft>
                <a:spcPts val="0"/>
              </a:spcAft>
              <a:buNone/>
            </a:pPr>
            <a:r>
              <a:t/>
            </a:r>
            <a:endParaRPr b="0" i="0" sz="1250" u="none" cap="none" strike="noStrike">
              <a:solidFill>
                <a:srgbClr val="111E33"/>
              </a:solidFill>
              <a:latin typeface="Calibri"/>
              <a:ea typeface="Calibri"/>
              <a:cs typeface="Calibri"/>
              <a:sym typeface="Calibri"/>
            </a:endParaRPr>
          </a:p>
          <a:p>
            <a:pPr indent="0" lvl="0" marL="0" marR="0" rtl="0" algn="l">
              <a:spcBef>
                <a:spcPts val="0"/>
              </a:spcBef>
              <a:spcAft>
                <a:spcPts val="0"/>
              </a:spcAft>
              <a:buNone/>
            </a:pPr>
            <a:r>
              <a:rPr b="0" i="0" lang="en-US" sz="1250" u="none" cap="none" strike="noStrike">
                <a:solidFill>
                  <a:srgbClr val="111E33"/>
                </a:solidFill>
                <a:latin typeface="Calibri"/>
                <a:ea typeface="Calibri"/>
                <a:cs typeface="Calibri"/>
                <a:sym typeface="Calibri"/>
              </a:rPr>
              <a:t>•  Les chauffeurs décident où aller avec peu de données — surtout à l'instinct</a:t>
            </a:r>
            <a:endParaRPr/>
          </a:p>
        </p:txBody>
      </p:sp>
      <p:sp>
        <p:nvSpPr>
          <p:cNvPr id="101" name="Google Shape;101;p3"/>
          <p:cNvSpPr txBox="1"/>
          <p:nvPr/>
        </p:nvSpPr>
        <p:spPr>
          <a:xfrm>
            <a:off x="548640" y="3383280"/>
            <a:ext cx="512064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E8743B"/>
                </a:solidFill>
                <a:latin typeface="Calibri"/>
                <a:ea typeface="Calibri"/>
                <a:cs typeface="Calibri"/>
                <a:sym typeface="Calibri"/>
              </a:rPr>
              <a:t>Objectif</a:t>
            </a:r>
            <a:endParaRPr/>
          </a:p>
        </p:txBody>
      </p:sp>
      <p:sp>
        <p:nvSpPr>
          <p:cNvPr id="102" name="Google Shape;102;p3"/>
          <p:cNvSpPr txBox="1"/>
          <p:nvPr/>
        </p:nvSpPr>
        <p:spPr>
          <a:xfrm>
            <a:off x="548640" y="3749039"/>
            <a:ext cx="5120640" cy="137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50" u="none" cap="none" strike="noStrike">
                <a:solidFill>
                  <a:srgbClr val="111E33"/>
                </a:solidFill>
                <a:latin typeface="Calibri"/>
                <a:ea typeface="Calibri"/>
                <a:cs typeface="Calibri"/>
                <a:sym typeface="Calibri"/>
              </a:rPr>
              <a:t>•  Prévoir, pour chaque zone de New York et chaque heure future : la demande, la rentabilité, la concurrence et la probabilité de pourboire</a:t>
            </a:r>
            <a:endParaRPr/>
          </a:p>
          <a:p>
            <a:pPr indent="0" lvl="0" marL="0" marR="0" rtl="0" algn="l">
              <a:spcBef>
                <a:spcPts val="0"/>
              </a:spcBef>
              <a:spcAft>
                <a:spcPts val="0"/>
              </a:spcAft>
              <a:buNone/>
            </a:pPr>
            <a:r>
              <a:t/>
            </a:r>
            <a:endParaRPr b="0" i="0" sz="1250" u="none" cap="none" strike="noStrike">
              <a:solidFill>
                <a:srgbClr val="111E33"/>
              </a:solidFill>
              <a:latin typeface="Calibri"/>
              <a:ea typeface="Calibri"/>
              <a:cs typeface="Calibri"/>
              <a:sym typeface="Calibri"/>
            </a:endParaRPr>
          </a:p>
          <a:p>
            <a:pPr indent="0" lvl="0" marL="0" marR="0" rtl="0" algn="l">
              <a:spcBef>
                <a:spcPts val="0"/>
              </a:spcBef>
              <a:spcAft>
                <a:spcPts val="0"/>
              </a:spcAft>
              <a:buNone/>
            </a:pPr>
            <a:r>
              <a:rPr b="0" i="0" lang="en-US" sz="1250" u="none" cap="none" strike="noStrike">
                <a:solidFill>
                  <a:srgbClr val="111E33"/>
                </a:solidFill>
                <a:latin typeface="Calibri"/>
                <a:ea typeface="Calibri"/>
                <a:cs typeface="Calibri"/>
                <a:sym typeface="Calibri"/>
              </a:rPr>
              <a:t>•  Combiner les 4 signaux en un « opportunity_score » classé par zone-heure</a:t>
            </a:r>
            <a:endParaRPr/>
          </a:p>
        </p:txBody>
      </p:sp>
      <p:sp>
        <p:nvSpPr>
          <p:cNvPr id="103" name="Google Shape;103;p3"/>
          <p:cNvSpPr txBox="1"/>
          <p:nvPr/>
        </p:nvSpPr>
        <p:spPr>
          <a:xfrm>
            <a:off x="6309360" y="1691640"/>
            <a:ext cx="5303400" cy="192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50" u="none" cap="none" strike="noStrike">
                <a:solidFill>
                  <a:srgbClr val="2E5CB8"/>
                </a:solidFill>
                <a:latin typeface="Calibri"/>
                <a:ea typeface="Calibri"/>
                <a:cs typeface="Calibri"/>
                <a:sym typeface="Calibri"/>
              </a:rPr>
              <a:t>Prévision </a:t>
            </a:r>
            <a:r>
              <a:rPr b="1" lang="en-US" sz="1250">
                <a:solidFill>
                  <a:srgbClr val="2E5CB8"/>
                </a:solidFill>
                <a:latin typeface="Calibri"/>
                <a:ea typeface="Calibri"/>
                <a:cs typeface="Calibri"/>
                <a:sym typeface="Calibri"/>
              </a:rPr>
              <a:t>-</a:t>
            </a:r>
            <a:r>
              <a:rPr b="1" i="0" lang="en-US" sz="1250" u="none" cap="none" strike="noStrike">
                <a:solidFill>
                  <a:srgbClr val="2E5CB8"/>
                </a:solidFill>
                <a:latin typeface="Calibri"/>
                <a:ea typeface="Calibri"/>
                <a:cs typeface="Calibri"/>
                <a:sym typeface="Calibri"/>
              </a:rPr>
              <a:t> heure suivante (rank_by=opportunity)</a:t>
            </a:r>
            <a:endParaRPr/>
          </a:p>
        </p:txBody>
      </p:sp>
      <p:sp>
        <p:nvSpPr>
          <p:cNvPr id="104" name="Google Shape;104;p3"/>
          <p:cNvSpPr/>
          <p:nvPr/>
        </p:nvSpPr>
        <p:spPr>
          <a:xfrm>
            <a:off x="6309360" y="2148840"/>
            <a:ext cx="640080" cy="438912"/>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#1</a:t>
            </a:r>
            <a:endParaRPr/>
          </a:p>
        </p:txBody>
      </p:sp>
      <p:sp>
        <p:nvSpPr>
          <p:cNvPr id="105" name="Google Shape;105;p3"/>
          <p:cNvSpPr/>
          <p:nvPr/>
        </p:nvSpPr>
        <p:spPr>
          <a:xfrm>
            <a:off x="7040880" y="2148840"/>
            <a:ext cx="3017520" cy="438912"/>
          </a:xfrm>
          <a:prstGeom prst="roundRect">
            <a:avLst>
              <a:gd fmla="val 8000" name="adj"/>
            </a:avLst>
          </a:prstGeom>
          <a:solidFill>
            <a:srgbClr val="F4F5F7"/>
          </a:solidFill>
          <a:ln>
            <a:noFill/>
          </a:ln>
        </p:spPr>
        <p:txBody>
          <a:bodyPr anchorCtr="0" anchor="ctr" bIns="27425" lIns="73150" spcFirstLastPara="1" rIns="73150" wrap="square" tIns="27425">
            <a:noAutofit/>
          </a:bodyPr>
          <a:lstStyle/>
          <a:p>
            <a:pPr indent="0" lvl="0" marL="0" marR="0" rtl="0" algn="l">
              <a:spcBef>
                <a:spcPts val="0"/>
              </a:spcBef>
              <a:spcAft>
                <a:spcPts val="0"/>
              </a:spcAft>
              <a:buNone/>
            </a:pPr>
            <a:r>
              <a:rPr b="0" i="0" lang="en-US" sz="1100" u="none" cap="none" strike="noStrike">
                <a:solidFill>
                  <a:srgbClr val="111E33"/>
                </a:solidFill>
                <a:latin typeface="Calibri"/>
                <a:ea typeface="Calibri"/>
                <a:cs typeface="Calibri"/>
                <a:sym typeface="Calibri"/>
              </a:rPr>
              <a:t>JFK Airport</a:t>
            </a:r>
            <a:endParaRPr/>
          </a:p>
        </p:txBody>
      </p:sp>
      <p:sp>
        <p:nvSpPr>
          <p:cNvPr id="106" name="Google Shape;106;p3"/>
          <p:cNvSpPr/>
          <p:nvPr/>
        </p:nvSpPr>
        <p:spPr>
          <a:xfrm>
            <a:off x="10195560" y="2148840"/>
            <a:ext cx="1234440" cy="438912"/>
          </a:xfrm>
          <a:prstGeom prst="roundRect">
            <a:avLst>
              <a:gd fmla="val 8000" name="adj"/>
            </a:avLst>
          </a:prstGeom>
          <a:solidFill>
            <a:srgbClr val="FFFFFF"/>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111E33"/>
                </a:solidFill>
                <a:latin typeface="Calibri"/>
                <a:ea typeface="Calibri"/>
                <a:cs typeface="Calibri"/>
                <a:sym typeface="Calibri"/>
              </a:rPr>
              <a:t>0.94</a:t>
            </a:r>
            <a:endParaRPr/>
          </a:p>
        </p:txBody>
      </p:sp>
      <p:sp>
        <p:nvSpPr>
          <p:cNvPr id="107" name="Google Shape;107;p3"/>
          <p:cNvSpPr/>
          <p:nvPr/>
        </p:nvSpPr>
        <p:spPr>
          <a:xfrm>
            <a:off x="6309360" y="2679192"/>
            <a:ext cx="640080" cy="438912"/>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#2</a:t>
            </a:r>
            <a:endParaRPr/>
          </a:p>
        </p:txBody>
      </p:sp>
      <p:sp>
        <p:nvSpPr>
          <p:cNvPr id="108" name="Google Shape;108;p3"/>
          <p:cNvSpPr/>
          <p:nvPr/>
        </p:nvSpPr>
        <p:spPr>
          <a:xfrm>
            <a:off x="7040880" y="2679192"/>
            <a:ext cx="3017520" cy="438912"/>
          </a:xfrm>
          <a:prstGeom prst="roundRect">
            <a:avLst>
              <a:gd fmla="val 8000" name="adj"/>
            </a:avLst>
          </a:prstGeom>
          <a:solidFill>
            <a:srgbClr val="F4F5F7"/>
          </a:solidFill>
          <a:ln>
            <a:noFill/>
          </a:ln>
        </p:spPr>
        <p:txBody>
          <a:bodyPr anchorCtr="0" anchor="ctr" bIns="27425" lIns="73150" spcFirstLastPara="1" rIns="73150" wrap="square" tIns="27425">
            <a:noAutofit/>
          </a:bodyPr>
          <a:lstStyle/>
          <a:p>
            <a:pPr indent="0" lvl="0" marL="0" marR="0" rtl="0" algn="l">
              <a:spcBef>
                <a:spcPts val="0"/>
              </a:spcBef>
              <a:spcAft>
                <a:spcPts val="0"/>
              </a:spcAft>
              <a:buNone/>
            </a:pPr>
            <a:r>
              <a:rPr b="0" i="0" lang="en-US" sz="1100" u="none" cap="none" strike="noStrike">
                <a:solidFill>
                  <a:srgbClr val="111E33"/>
                </a:solidFill>
                <a:latin typeface="Calibri"/>
                <a:ea typeface="Calibri"/>
                <a:cs typeface="Calibri"/>
                <a:sym typeface="Calibri"/>
              </a:rPr>
              <a:t>Times Sq / Theatre District</a:t>
            </a:r>
            <a:endParaRPr/>
          </a:p>
        </p:txBody>
      </p:sp>
      <p:sp>
        <p:nvSpPr>
          <p:cNvPr id="109" name="Google Shape;109;p3"/>
          <p:cNvSpPr/>
          <p:nvPr/>
        </p:nvSpPr>
        <p:spPr>
          <a:xfrm>
            <a:off x="10195560" y="2679192"/>
            <a:ext cx="1234440" cy="438912"/>
          </a:xfrm>
          <a:prstGeom prst="roundRect">
            <a:avLst>
              <a:gd fmla="val 8000" name="adj"/>
            </a:avLst>
          </a:prstGeom>
          <a:solidFill>
            <a:srgbClr val="FFFFFF"/>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111E33"/>
                </a:solidFill>
                <a:latin typeface="Calibri"/>
                <a:ea typeface="Calibri"/>
                <a:cs typeface="Calibri"/>
                <a:sym typeface="Calibri"/>
              </a:rPr>
              <a:t>0.89</a:t>
            </a:r>
            <a:endParaRPr/>
          </a:p>
        </p:txBody>
      </p:sp>
      <p:sp>
        <p:nvSpPr>
          <p:cNvPr id="110" name="Google Shape;110;p3"/>
          <p:cNvSpPr/>
          <p:nvPr/>
        </p:nvSpPr>
        <p:spPr>
          <a:xfrm>
            <a:off x="6309360" y="3209544"/>
            <a:ext cx="640080" cy="438912"/>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#3</a:t>
            </a:r>
            <a:endParaRPr/>
          </a:p>
        </p:txBody>
      </p:sp>
      <p:sp>
        <p:nvSpPr>
          <p:cNvPr id="111" name="Google Shape;111;p3"/>
          <p:cNvSpPr/>
          <p:nvPr/>
        </p:nvSpPr>
        <p:spPr>
          <a:xfrm>
            <a:off x="7040880" y="3209544"/>
            <a:ext cx="3017520" cy="438912"/>
          </a:xfrm>
          <a:prstGeom prst="roundRect">
            <a:avLst>
              <a:gd fmla="val 8000" name="adj"/>
            </a:avLst>
          </a:prstGeom>
          <a:solidFill>
            <a:srgbClr val="F4F5F7"/>
          </a:solidFill>
          <a:ln>
            <a:noFill/>
          </a:ln>
        </p:spPr>
        <p:txBody>
          <a:bodyPr anchorCtr="0" anchor="ctr" bIns="27425" lIns="73150" spcFirstLastPara="1" rIns="73150" wrap="square" tIns="27425">
            <a:noAutofit/>
          </a:bodyPr>
          <a:lstStyle/>
          <a:p>
            <a:pPr indent="0" lvl="0" marL="0" marR="0" rtl="0" algn="l">
              <a:spcBef>
                <a:spcPts val="0"/>
              </a:spcBef>
              <a:spcAft>
                <a:spcPts val="0"/>
              </a:spcAft>
              <a:buNone/>
            </a:pPr>
            <a:r>
              <a:rPr b="0" i="0" lang="en-US" sz="1100" u="none" cap="none" strike="noStrike">
                <a:solidFill>
                  <a:srgbClr val="111E33"/>
                </a:solidFill>
                <a:latin typeface="Calibri"/>
                <a:ea typeface="Calibri"/>
                <a:cs typeface="Calibri"/>
                <a:sym typeface="Calibri"/>
              </a:rPr>
              <a:t>Upper East Side South</a:t>
            </a:r>
            <a:endParaRPr/>
          </a:p>
        </p:txBody>
      </p:sp>
      <p:sp>
        <p:nvSpPr>
          <p:cNvPr id="112" name="Google Shape;112;p3"/>
          <p:cNvSpPr/>
          <p:nvPr/>
        </p:nvSpPr>
        <p:spPr>
          <a:xfrm>
            <a:off x="10195560" y="3209544"/>
            <a:ext cx="1234440" cy="438912"/>
          </a:xfrm>
          <a:prstGeom prst="roundRect">
            <a:avLst>
              <a:gd fmla="val 8000" name="adj"/>
            </a:avLst>
          </a:prstGeom>
          <a:solidFill>
            <a:srgbClr val="FFFFFF"/>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111E33"/>
                </a:solidFill>
                <a:latin typeface="Calibri"/>
                <a:ea typeface="Calibri"/>
                <a:cs typeface="Calibri"/>
                <a:sym typeface="Calibri"/>
              </a:rPr>
              <a:t>0.82</a:t>
            </a:r>
            <a:endParaRPr/>
          </a:p>
        </p:txBody>
      </p:sp>
      <p:sp>
        <p:nvSpPr>
          <p:cNvPr id="113" name="Google Shape;113;p3"/>
          <p:cNvSpPr/>
          <p:nvPr/>
        </p:nvSpPr>
        <p:spPr>
          <a:xfrm>
            <a:off x="6309360" y="3739896"/>
            <a:ext cx="640080" cy="438912"/>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#4</a:t>
            </a:r>
            <a:endParaRPr/>
          </a:p>
        </p:txBody>
      </p:sp>
      <p:sp>
        <p:nvSpPr>
          <p:cNvPr id="114" name="Google Shape;114;p3"/>
          <p:cNvSpPr/>
          <p:nvPr/>
        </p:nvSpPr>
        <p:spPr>
          <a:xfrm>
            <a:off x="7040880" y="3739896"/>
            <a:ext cx="3017520" cy="438912"/>
          </a:xfrm>
          <a:prstGeom prst="roundRect">
            <a:avLst>
              <a:gd fmla="val 8000" name="adj"/>
            </a:avLst>
          </a:prstGeom>
          <a:solidFill>
            <a:srgbClr val="F4F5F7"/>
          </a:solidFill>
          <a:ln>
            <a:noFill/>
          </a:ln>
        </p:spPr>
        <p:txBody>
          <a:bodyPr anchorCtr="0" anchor="ctr" bIns="27425" lIns="73150" spcFirstLastPara="1" rIns="73150" wrap="square" tIns="27425">
            <a:noAutofit/>
          </a:bodyPr>
          <a:lstStyle/>
          <a:p>
            <a:pPr indent="0" lvl="0" marL="0" marR="0" rtl="0" algn="l">
              <a:spcBef>
                <a:spcPts val="0"/>
              </a:spcBef>
              <a:spcAft>
                <a:spcPts val="0"/>
              </a:spcAft>
              <a:buNone/>
            </a:pPr>
            <a:r>
              <a:rPr b="0" i="0" lang="en-US" sz="1100" u="none" cap="none" strike="noStrike">
                <a:solidFill>
                  <a:srgbClr val="111E33"/>
                </a:solidFill>
                <a:latin typeface="Calibri"/>
                <a:ea typeface="Calibri"/>
                <a:cs typeface="Calibri"/>
                <a:sym typeface="Calibri"/>
              </a:rPr>
              <a:t>LaGuardia Airport</a:t>
            </a:r>
            <a:endParaRPr/>
          </a:p>
        </p:txBody>
      </p:sp>
      <p:sp>
        <p:nvSpPr>
          <p:cNvPr id="115" name="Google Shape;115;p3"/>
          <p:cNvSpPr/>
          <p:nvPr/>
        </p:nvSpPr>
        <p:spPr>
          <a:xfrm>
            <a:off x="10195560" y="3739896"/>
            <a:ext cx="1234440" cy="438912"/>
          </a:xfrm>
          <a:prstGeom prst="roundRect">
            <a:avLst>
              <a:gd fmla="val 8000" name="adj"/>
            </a:avLst>
          </a:prstGeom>
          <a:solidFill>
            <a:srgbClr val="FFFFFF"/>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111E33"/>
                </a:solidFill>
                <a:latin typeface="Calibri"/>
                <a:ea typeface="Calibri"/>
                <a:cs typeface="Calibri"/>
                <a:sym typeface="Calibri"/>
              </a:rPr>
              <a:t>0.77</a:t>
            </a:r>
            <a:endParaRPr/>
          </a:p>
        </p:txBody>
      </p:sp>
      <p:sp>
        <p:nvSpPr>
          <p:cNvPr id="116" name="Google Shape;116;p3"/>
          <p:cNvSpPr/>
          <p:nvPr/>
        </p:nvSpPr>
        <p:spPr>
          <a:xfrm>
            <a:off x="6309360" y="4270248"/>
            <a:ext cx="640080" cy="438912"/>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#5</a:t>
            </a:r>
            <a:endParaRPr/>
          </a:p>
        </p:txBody>
      </p:sp>
      <p:sp>
        <p:nvSpPr>
          <p:cNvPr id="117" name="Google Shape;117;p3"/>
          <p:cNvSpPr/>
          <p:nvPr/>
        </p:nvSpPr>
        <p:spPr>
          <a:xfrm>
            <a:off x="7040880" y="4270248"/>
            <a:ext cx="3017520" cy="438912"/>
          </a:xfrm>
          <a:prstGeom prst="roundRect">
            <a:avLst>
              <a:gd fmla="val 8000" name="adj"/>
            </a:avLst>
          </a:prstGeom>
          <a:solidFill>
            <a:srgbClr val="F4F5F7"/>
          </a:solidFill>
          <a:ln>
            <a:noFill/>
          </a:ln>
        </p:spPr>
        <p:txBody>
          <a:bodyPr anchorCtr="0" anchor="ctr" bIns="27425" lIns="73150" spcFirstLastPara="1" rIns="73150" wrap="square" tIns="27425">
            <a:noAutofit/>
          </a:bodyPr>
          <a:lstStyle/>
          <a:p>
            <a:pPr indent="0" lvl="0" marL="0" marR="0" rtl="0" algn="l">
              <a:spcBef>
                <a:spcPts val="0"/>
              </a:spcBef>
              <a:spcAft>
                <a:spcPts val="0"/>
              </a:spcAft>
              <a:buNone/>
            </a:pPr>
            <a:r>
              <a:rPr b="0" i="0" lang="en-US" sz="1100" u="none" cap="none" strike="noStrike">
                <a:solidFill>
                  <a:srgbClr val="111E33"/>
                </a:solidFill>
                <a:latin typeface="Calibri"/>
                <a:ea typeface="Calibri"/>
                <a:cs typeface="Calibri"/>
                <a:sym typeface="Calibri"/>
              </a:rPr>
              <a:t>Midtown Center</a:t>
            </a:r>
            <a:endParaRPr/>
          </a:p>
        </p:txBody>
      </p:sp>
      <p:sp>
        <p:nvSpPr>
          <p:cNvPr id="118" name="Google Shape;118;p3"/>
          <p:cNvSpPr/>
          <p:nvPr/>
        </p:nvSpPr>
        <p:spPr>
          <a:xfrm>
            <a:off x="10195560" y="4270248"/>
            <a:ext cx="1234440" cy="438912"/>
          </a:xfrm>
          <a:prstGeom prst="roundRect">
            <a:avLst>
              <a:gd fmla="val 8000" name="adj"/>
            </a:avLst>
          </a:prstGeom>
          <a:solidFill>
            <a:srgbClr val="FFFFFF"/>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111E33"/>
                </a:solidFill>
                <a:latin typeface="Calibri"/>
                <a:ea typeface="Calibri"/>
                <a:cs typeface="Calibri"/>
                <a:sym typeface="Calibri"/>
              </a:rPr>
              <a:t>0.71</a:t>
            </a:r>
            <a:endParaRPr/>
          </a:p>
        </p:txBody>
      </p:sp>
      <p:sp>
        <p:nvSpPr>
          <p:cNvPr id="119" name="Google Shape;119;p3"/>
          <p:cNvSpPr/>
          <p:nvPr/>
        </p:nvSpPr>
        <p:spPr>
          <a:xfrm>
            <a:off x="6309360" y="4800600"/>
            <a:ext cx="640080" cy="438912"/>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#6</a:t>
            </a:r>
            <a:endParaRPr/>
          </a:p>
        </p:txBody>
      </p:sp>
      <p:sp>
        <p:nvSpPr>
          <p:cNvPr id="120" name="Google Shape;120;p3"/>
          <p:cNvSpPr/>
          <p:nvPr/>
        </p:nvSpPr>
        <p:spPr>
          <a:xfrm>
            <a:off x="7040880" y="4800600"/>
            <a:ext cx="3017520" cy="438912"/>
          </a:xfrm>
          <a:prstGeom prst="roundRect">
            <a:avLst>
              <a:gd fmla="val 8000" name="adj"/>
            </a:avLst>
          </a:prstGeom>
          <a:solidFill>
            <a:srgbClr val="F4F5F7"/>
          </a:solidFill>
          <a:ln>
            <a:noFill/>
          </a:ln>
        </p:spPr>
        <p:txBody>
          <a:bodyPr anchorCtr="0" anchor="ctr" bIns="27425" lIns="73150" spcFirstLastPara="1" rIns="73150" wrap="square" tIns="27425">
            <a:noAutofit/>
          </a:bodyPr>
          <a:lstStyle/>
          <a:p>
            <a:pPr indent="0" lvl="0" marL="0" marR="0" rtl="0" algn="l">
              <a:spcBef>
                <a:spcPts val="0"/>
              </a:spcBef>
              <a:spcAft>
                <a:spcPts val="0"/>
              </a:spcAft>
              <a:buNone/>
            </a:pPr>
            <a:r>
              <a:rPr b="0" i="0" lang="en-US" sz="1100" u="none" cap="none" strike="noStrike">
                <a:solidFill>
                  <a:srgbClr val="111E33"/>
                </a:solidFill>
                <a:latin typeface="Calibri"/>
                <a:ea typeface="Calibri"/>
                <a:cs typeface="Calibri"/>
                <a:sym typeface="Calibri"/>
              </a:rPr>
              <a:t>East Village</a:t>
            </a:r>
            <a:endParaRPr/>
          </a:p>
        </p:txBody>
      </p:sp>
      <p:sp>
        <p:nvSpPr>
          <p:cNvPr id="121" name="Google Shape;121;p3"/>
          <p:cNvSpPr/>
          <p:nvPr/>
        </p:nvSpPr>
        <p:spPr>
          <a:xfrm>
            <a:off x="10195560" y="4800600"/>
            <a:ext cx="1234440" cy="438912"/>
          </a:xfrm>
          <a:prstGeom prst="roundRect">
            <a:avLst>
              <a:gd fmla="val 8000" name="adj"/>
            </a:avLst>
          </a:prstGeom>
          <a:solidFill>
            <a:srgbClr val="FFFFFF"/>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111E33"/>
                </a:solidFill>
                <a:latin typeface="Calibri"/>
                <a:ea typeface="Calibri"/>
                <a:cs typeface="Calibri"/>
                <a:sym typeface="Calibri"/>
              </a:rPr>
              <a:t>0.65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4"/>
          <p:cNvSpPr txBox="1"/>
          <p:nvPr/>
        </p:nvSpPr>
        <p:spPr>
          <a:xfrm>
            <a:off x="548640" y="320040"/>
            <a:ext cx="86868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E8743B"/>
                </a:solidFill>
                <a:latin typeface="Calibri"/>
                <a:ea typeface="Calibri"/>
                <a:cs typeface="Calibri"/>
                <a:sym typeface="Calibri"/>
              </a:rPr>
              <a:t>2. SOURCES DE DONNÉES</a:t>
            </a:r>
            <a:endParaRPr/>
          </a:p>
        </p:txBody>
      </p:sp>
      <p:sp>
        <p:nvSpPr>
          <p:cNvPr id="127" name="Google Shape;127;p4"/>
          <p:cNvSpPr txBox="1"/>
          <p:nvPr/>
        </p:nvSpPr>
        <p:spPr>
          <a:xfrm>
            <a:off x="548640" y="621792"/>
            <a:ext cx="105156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u="none" cap="none" strike="noStrike">
                <a:solidFill>
                  <a:srgbClr val="111E33"/>
                </a:solidFill>
                <a:latin typeface="Calibri"/>
                <a:ea typeface="Calibri"/>
                <a:cs typeface="Calibri"/>
                <a:sym typeface="Calibri"/>
              </a:rPr>
              <a:t>Ce qui alimente le pipeline</a:t>
            </a:r>
            <a:endParaRPr/>
          </a:p>
        </p:txBody>
      </p:sp>
      <p:sp>
        <p:nvSpPr>
          <p:cNvPr id="128" name="Google Shape;128;p4"/>
          <p:cNvSpPr/>
          <p:nvPr/>
        </p:nvSpPr>
        <p:spPr>
          <a:xfrm>
            <a:off x="548640" y="1207008"/>
            <a:ext cx="822960" cy="36576"/>
          </a:xfrm>
          <a:prstGeom prst="rect">
            <a:avLst/>
          </a:prstGeom>
          <a:solidFill>
            <a:srgbClr val="E874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4"/>
          <p:cNvSpPr/>
          <p:nvPr/>
        </p:nvSpPr>
        <p:spPr>
          <a:xfrm>
            <a:off x="0" y="6537960"/>
            <a:ext cx="12191695" cy="91440"/>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 name="Google Shape;130;p4"/>
          <p:cNvSpPr txBox="1"/>
          <p:nvPr/>
        </p:nvSpPr>
        <p:spPr>
          <a:xfrm>
            <a:off x="365760" y="6565392"/>
            <a:ext cx="54864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A6372"/>
                </a:solidFill>
                <a:latin typeface="Calibri"/>
                <a:ea typeface="Calibri"/>
                <a:cs typeface="Calibri"/>
                <a:sym typeface="Calibri"/>
              </a:rPr>
              <a:t>NYC Taxi Ride Demand &amp; Opportunity MLOps</a:t>
            </a:r>
            <a:endParaRPr/>
          </a:p>
        </p:txBody>
      </p:sp>
      <p:sp>
        <p:nvSpPr>
          <p:cNvPr id="131" name="Google Shape;131;p4"/>
          <p:cNvSpPr txBox="1"/>
          <p:nvPr/>
        </p:nvSpPr>
        <p:spPr>
          <a:xfrm>
            <a:off x="9994392" y="6565392"/>
            <a:ext cx="1828800"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A6372"/>
                </a:solidFill>
                <a:latin typeface="Calibri"/>
                <a:ea typeface="Calibri"/>
                <a:cs typeface="Calibri"/>
                <a:sym typeface="Calibri"/>
              </a:rPr>
              <a:t>4 / 17</a:t>
            </a:r>
            <a:endParaRPr/>
          </a:p>
        </p:txBody>
      </p:sp>
      <p:sp>
        <p:nvSpPr>
          <p:cNvPr id="132" name="Google Shape;132;p4"/>
          <p:cNvSpPr/>
          <p:nvPr/>
        </p:nvSpPr>
        <p:spPr>
          <a:xfrm>
            <a:off x="640080" y="1691640"/>
            <a:ext cx="3200400" cy="1005840"/>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400" u="none" cap="none" strike="noStrike">
                <a:solidFill>
                  <a:srgbClr val="FFFFFF"/>
                </a:solidFill>
                <a:latin typeface="Calibri"/>
                <a:ea typeface="Calibri"/>
                <a:cs typeface="Calibri"/>
                <a:sym typeface="Calibri"/>
              </a:rPr>
              <a:t>NYC TLC Yellow Taxi</a:t>
            </a:r>
            <a:endParaRPr/>
          </a:p>
          <a:p>
            <a:pPr indent="0" lvl="0" marL="0" marR="0" rtl="0" algn="ctr">
              <a:spcBef>
                <a:spcPts val="0"/>
              </a:spcBef>
              <a:spcAft>
                <a:spcPts val="0"/>
              </a:spcAft>
              <a:buNone/>
            </a:pPr>
            <a:r>
              <a:rPr b="1" i="0" lang="en-US" sz="1400" u="none" cap="none" strike="noStrike">
                <a:solidFill>
                  <a:srgbClr val="FFFFFF"/>
                </a:solidFill>
                <a:latin typeface="Calibri"/>
                <a:ea typeface="Calibri"/>
                <a:cs typeface="Calibri"/>
                <a:sym typeface="Calibri"/>
              </a:rPr>
              <a:t>Données de courses</a:t>
            </a:r>
            <a:endParaRPr/>
          </a:p>
        </p:txBody>
      </p:sp>
      <p:sp>
        <p:nvSpPr>
          <p:cNvPr id="133" name="Google Shape;133;p4"/>
          <p:cNvSpPr txBox="1"/>
          <p:nvPr/>
        </p:nvSpPr>
        <p:spPr>
          <a:xfrm>
            <a:off x="640080" y="2834640"/>
            <a:ext cx="3200400" cy="59436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00" u="none" cap="none" strike="noStrike">
                <a:solidFill>
                  <a:srgbClr val="5A6372"/>
                </a:solidFill>
                <a:latin typeface="Calibri"/>
                <a:ea typeface="Calibri"/>
                <a:cs typeface="Calibri"/>
                <a:sym typeface="Calibri"/>
              </a:rPr>
              <a:t>Fichiers parquet mensuels</a:t>
            </a:r>
            <a:endParaRPr/>
          </a:p>
          <a:p>
            <a:pPr indent="0" lvl="0" marL="0" marR="0" rtl="0" algn="ctr">
              <a:spcBef>
                <a:spcPts val="0"/>
              </a:spcBef>
              <a:spcAft>
                <a:spcPts val="0"/>
              </a:spcAft>
              <a:buNone/>
            </a:pPr>
            <a:r>
              <a:rPr b="0" i="0" lang="en-US" sz="1100" u="none" cap="none" strike="noStrike">
                <a:solidFill>
                  <a:srgbClr val="5A6372"/>
                </a:solidFill>
                <a:latin typeface="Calibri"/>
                <a:ea typeface="Calibri"/>
                <a:cs typeface="Calibri"/>
                <a:sym typeface="Calibri"/>
              </a:rPr>
              <a:t>(ingestion/download.py)</a:t>
            </a:r>
            <a:endParaRPr/>
          </a:p>
        </p:txBody>
      </p:sp>
      <p:sp>
        <p:nvSpPr>
          <p:cNvPr id="134" name="Google Shape;134;p4"/>
          <p:cNvSpPr/>
          <p:nvPr/>
        </p:nvSpPr>
        <p:spPr>
          <a:xfrm>
            <a:off x="4434840" y="1691640"/>
            <a:ext cx="3200400" cy="1005840"/>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400" u="none" cap="none" strike="noStrike">
                <a:solidFill>
                  <a:srgbClr val="FFFFFF"/>
                </a:solidFill>
                <a:latin typeface="Calibri"/>
                <a:ea typeface="Calibri"/>
                <a:cs typeface="Calibri"/>
                <a:sym typeface="Calibri"/>
              </a:rPr>
              <a:t>Open-Meteo</a:t>
            </a:r>
            <a:endParaRPr/>
          </a:p>
          <a:p>
            <a:pPr indent="0" lvl="0" marL="0" marR="0" rtl="0" algn="ctr">
              <a:spcBef>
                <a:spcPts val="0"/>
              </a:spcBef>
              <a:spcAft>
                <a:spcPts val="0"/>
              </a:spcAft>
              <a:buNone/>
            </a:pPr>
            <a:r>
              <a:rPr b="1" i="0" lang="en-US" sz="1400" u="none" cap="none" strike="noStrike">
                <a:solidFill>
                  <a:srgbClr val="FFFFFF"/>
                </a:solidFill>
                <a:latin typeface="Calibri"/>
                <a:ea typeface="Calibri"/>
                <a:cs typeface="Calibri"/>
                <a:sym typeface="Calibri"/>
              </a:rPr>
              <a:t>API météo</a:t>
            </a:r>
            <a:endParaRPr/>
          </a:p>
        </p:txBody>
      </p:sp>
      <p:sp>
        <p:nvSpPr>
          <p:cNvPr id="135" name="Google Shape;135;p4"/>
          <p:cNvSpPr txBox="1"/>
          <p:nvPr/>
        </p:nvSpPr>
        <p:spPr>
          <a:xfrm>
            <a:off x="4434840" y="2834640"/>
            <a:ext cx="3200400" cy="59436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00" u="none" cap="none" strike="noStrike">
                <a:solidFill>
                  <a:srgbClr val="5A6372"/>
                </a:solidFill>
                <a:latin typeface="Calibri"/>
                <a:ea typeface="Calibri"/>
                <a:cs typeface="Calibri"/>
                <a:sym typeface="Calibri"/>
              </a:rPr>
              <a:t>Précipitations, température</a:t>
            </a:r>
            <a:endParaRPr/>
          </a:p>
          <a:p>
            <a:pPr indent="0" lvl="0" marL="0" marR="0" rtl="0" algn="ctr">
              <a:spcBef>
                <a:spcPts val="0"/>
              </a:spcBef>
              <a:spcAft>
                <a:spcPts val="0"/>
              </a:spcAft>
              <a:buNone/>
            </a:pPr>
            <a:r>
              <a:rPr b="0" i="0" lang="en-US" sz="1100" u="none" cap="none" strike="noStrike">
                <a:solidFill>
                  <a:srgbClr val="5A6372"/>
                </a:solidFill>
                <a:latin typeface="Calibri"/>
                <a:ea typeface="Calibri"/>
                <a:cs typeface="Calibri"/>
                <a:sym typeface="Calibri"/>
              </a:rPr>
              <a:t>et vent horaires (ingestion/weather.py)</a:t>
            </a:r>
            <a:endParaRPr/>
          </a:p>
        </p:txBody>
      </p:sp>
      <p:sp>
        <p:nvSpPr>
          <p:cNvPr id="136" name="Google Shape;136;p4"/>
          <p:cNvSpPr/>
          <p:nvPr/>
        </p:nvSpPr>
        <p:spPr>
          <a:xfrm>
            <a:off x="8229600" y="1691640"/>
            <a:ext cx="3200400" cy="1005840"/>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400" u="none" cap="none" strike="noStrike">
                <a:solidFill>
                  <a:srgbClr val="FFFFFF"/>
                </a:solidFill>
                <a:latin typeface="Calibri"/>
                <a:ea typeface="Calibri"/>
                <a:cs typeface="Calibri"/>
                <a:sym typeface="Calibri"/>
              </a:rPr>
              <a:t>Zones de taxi NYC</a:t>
            </a:r>
            <a:endParaRPr/>
          </a:p>
          <a:p>
            <a:pPr indent="0" lvl="0" marL="0" marR="0" rtl="0" algn="ctr">
              <a:spcBef>
                <a:spcPts val="0"/>
              </a:spcBef>
              <a:spcAft>
                <a:spcPts val="0"/>
              </a:spcAft>
              <a:buNone/>
            </a:pPr>
            <a:r>
              <a:rPr b="1" i="0" lang="en-US" sz="1400" u="none" cap="none" strike="noStrike">
                <a:solidFill>
                  <a:srgbClr val="FFFFFF"/>
                </a:solidFill>
                <a:latin typeface="Calibri"/>
                <a:ea typeface="Calibri"/>
                <a:cs typeface="Calibri"/>
                <a:sym typeface="Calibri"/>
              </a:rPr>
              <a:t>GeoJSON + table de correspondance</a:t>
            </a:r>
            <a:endParaRPr/>
          </a:p>
        </p:txBody>
      </p:sp>
      <p:sp>
        <p:nvSpPr>
          <p:cNvPr id="137" name="Google Shape;137;p4"/>
          <p:cNvSpPr txBox="1"/>
          <p:nvPr/>
        </p:nvSpPr>
        <p:spPr>
          <a:xfrm>
            <a:off x="8229600" y="2834640"/>
            <a:ext cx="3200400" cy="59436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00" u="none" cap="none" strike="noStrike">
                <a:solidFill>
                  <a:srgbClr val="5A6372"/>
                </a:solidFill>
                <a:latin typeface="Calibri"/>
                <a:ea typeface="Calibri"/>
                <a:cs typeface="Calibri"/>
                <a:sym typeface="Calibri"/>
              </a:rPr>
              <a:t>Limites des zones / arrondissements</a:t>
            </a:r>
            <a:endParaRPr/>
          </a:p>
          <a:p>
            <a:pPr indent="0" lvl="0" marL="0" marR="0" rtl="0" algn="ctr">
              <a:spcBef>
                <a:spcPts val="0"/>
              </a:spcBef>
              <a:spcAft>
                <a:spcPts val="0"/>
              </a:spcAft>
              <a:buNone/>
            </a:pPr>
            <a:r>
              <a:rPr b="0" i="0" lang="en-US" sz="1100" u="none" cap="none" strike="noStrike">
                <a:solidFill>
                  <a:srgbClr val="5A6372"/>
                </a:solidFill>
                <a:latin typeface="Calibri"/>
                <a:ea typeface="Calibri"/>
                <a:cs typeface="Calibri"/>
                <a:sym typeface="Calibri"/>
              </a:rPr>
              <a:t>(données de référence statiques)</a:t>
            </a:r>
            <a:endParaRPr/>
          </a:p>
        </p:txBody>
      </p:sp>
      <p:sp>
        <p:nvSpPr>
          <p:cNvPr id="138" name="Google Shape;138;p4"/>
          <p:cNvSpPr/>
          <p:nvPr/>
        </p:nvSpPr>
        <p:spPr>
          <a:xfrm>
            <a:off x="2743200" y="3931920"/>
            <a:ext cx="6675120" cy="640080"/>
          </a:xfrm>
          <a:prstGeom prst="roundRect">
            <a:avLst>
              <a:gd fmla="val 8000" name="adj"/>
            </a:avLst>
          </a:prstGeom>
          <a:solidFill>
            <a:srgbClr val="FFFFFF"/>
          </a:solidFill>
          <a:ln cap="flat" cmpd="sng" w="12700">
            <a:solidFill>
              <a:srgbClr val="2E5CB8"/>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300" u="none" cap="none" strike="noStrike">
                <a:solidFill>
                  <a:srgbClr val="111E33"/>
                </a:solidFill>
                <a:latin typeface="Calibri"/>
                <a:ea typeface="Calibri"/>
                <a:cs typeface="Calibri"/>
                <a:sym typeface="Calibri"/>
              </a:rPr>
              <a:t>preprocess/merge.py → S3: final/demand_dataset_enriched.parquet</a:t>
            </a:r>
            <a:endParaRPr/>
          </a:p>
        </p:txBody>
      </p:sp>
      <p:sp>
        <p:nvSpPr>
          <p:cNvPr id="139" name="Google Shape;139;p4"/>
          <p:cNvSpPr/>
          <p:nvPr/>
        </p:nvSpPr>
        <p:spPr>
          <a:xfrm>
            <a:off x="2377440" y="4892040"/>
            <a:ext cx="7406640" cy="640080"/>
          </a:xfrm>
          <a:prstGeom prst="roundRect">
            <a:avLst>
              <a:gd fmla="val 8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300" u="none" cap="none" strike="noStrike">
                <a:solidFill>
                  <a:srgbClr val="111E33"/>
                </a:solidFill>
                <a:latin typeface="Calibri"/>
                <a:ea typeface="Calibri"/>
                <a:cs typeface="Calibri"/>
                <a:sym typeface="Calibri"/>
              </a:rPr>
              <a:t>preprocess/features.py (DuckDB) → S3: final/hourly_zone_timeseries.parquet</a:t>
            </a:r>
            <a:endParaRPr/>
          </a:p>
        </p:txBody>
      </p:sp>
      <p:cxnSp>
        <p:nvCxnSpPr>
          <p:cNvPr id="140" name="Google Shape;140;p4"/>
          <p:cNvCxnSpPr/>
          <p:nvPr/>
        </p:nvCxnSpPr>
        <p:spPr>
          <a:xfrm>
            <a:off x="2240280" y="2697480"/>
            <a:ext cx="3246120" cy="1234440"/>
          </a:xfrm>
          <a:prstGeom prst="straightConnector1">
            <a:avLst/>
          </a:prstGeom>
          <a:noFill/>
          <a:ln cap="flat" cmpd="sng" w="22225">
            <a:solidFill>
              <a:srgbClr val="2E5CB8"/>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141" name="Google Shape;141;p4"/>
          <p:cNvCxnSpPr/>
          <p:nvPr/>
        </p:nvCxnSpPr>
        <p:spPr>
          <a:xfrm>
            <a:off x="6035040" y="2697480"/>
            <a:ext cx="0" cy="1234440"/>
          </a:xfrm>
          <a:prstGeom prst="straightConnector1">
            <a:avLst/>
          </a:prstGeom>
          <a:noFill/>
          <a:ln cap="flat" cmpd="sng" w="22225">
            <a:solidFill>
              <a:srgbClr val="2E5CB8"/>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142" name="Google Shape;142;p4"/>
          <p:cNvCxnSpPr/>
          <p:nvPr/>
        </p:nvCxnSpPr>
        <p:spPr>
          <a:xfrm flipH="1">
            <a:off x="6583680" y="2697480"/>
            <a:ext cx="3246120" cy="1234440"/>
          </a:xfrm>
          <a:prstGeom prst="straightConnector1">
            <a:avLst/>
          </a:prstGeom>
          <a:noFill/>
          <a:ln cap="flat" cmpd="sng" w="22225">
            <a:solidFill>
              <a:srgbClr val="2E5CB8"/>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143" name="Google Shape;143;p4"/>
          <p:cNvCxnSpPr/>
          <p:nvPr/>
        </p:nvCxnSpPr>
        <p:spPr>
          <a:xfrm>
            <a:off x="6080760" y="4572000"/>
            <a:ext cx="0" cy="320040"/>
          </a:xfrm>
          <a:prstGeom prst="straightConnector1">
            <a:avLst/>
          </a:prstGeom>
          <a:noFill/>
          <a:ln cap="flat" cmpd="sng" w="22225">
            <a:solidFill>
              <a:srgbClr val="2E5CB8"/>
            </a:solidFill>
            <a:prstDash val="solid"/>
            <a:round/>
            <a:headEnd len="sm" w="sm" type="none"/>
            <a:tailEnd len="med" w="med" type="triangle"/>
          </a:ln>
          <a:effectLst>
            <a:outerShdw blurRad="40000" rotWithShape="0" dir="5400000" dist="20000">
              <a:srgbClr val="000000">
                <a:alpha val="38039"/>
              </a:srgbClr>
            </a:outerShdw>
          </a:effectLst>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5"/>
          <p:cNvSpPr txBox="1"/>
          <p:nvPr/>
        </p:nvSpPr>
        <p:spPr>
          <a:xfrm>
            <a:off x="548640" y="320040"/>
            <a:ext cx="86868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E8743B"/>
                </a:solidFill>
                <a:latin typeface="Calibri"/>
                <a:ea typeface="Calibri"/>
                <a:cs typeface="Calibri"/>
                <a:sym typeface="Calibri"/>
              </a:rPr>
              <a:t>3. PIPELINE</a:t>
            </a:r>
            <a:endParaRPr/>
          </a:p>
        </p:txBody>
      </p:sp>
      <p:sp>
        <p:nvSpPr>
          <p:cNvPr id="149" name="Google Shape;149;p5"/>
          <p:cNvSpPr txBox="1"/>
          <p:nvPr/>
        </p:nvSpPr>
        <p:spPr>
          <a:xfrm>
            <a:off x="548640" y="621792"/>
            <a:ext cx="105156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u="none" cap="none" strike="noStrike">
                <a:solidFill>
                  <a:srgbClr val="111E33"/>
                </a:solidFill>
                <a:latin typeface="Calibri"/>
                <a:ea typeface="Calibri"/>
                <a:cs typeface="Calibri"/>
                <a:sym typeface="Calibri"/>
              </a:rPr>
              <a:t>DAG d'ingestion</a:t>
            </a:r>
            <a:endParaRPr/>
          </a:p>
        </p:txBody>
      </p:sp>
      <p:sp>
        <p:nvSpPr>
          <p:cNvPr id="150" name="Google Shape;150;p5"/>
          <p:cNvSpPr txBox="1"/>
          <p:nvPr/>
        </p:nvSpPr>
        <p:spPr>
          <a:xfrm>
            <a:off x="548640" y="1207008"/>
            <a:ext cx="10515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A6372"/>
                </a:solidFill>
                <a:latin typeface="Calibri"/>
                <a:ea typeface="Calibri"/>
                <a:cs typeface="Calibri"/>
                <a:sym typeface="Calibri"/>
              </a:rPr>
              <a:t>taxi_data_ingestion_local / taxi_data_ingestion_ec2  s'exécute tous les mois</a:t>
            </a:r>
            <a:endParaRPr/>
          </a:p>
        </p:txBody>
      </p:sp>
      <p:sp>
        <p:nvSpPr>
          <p:cNvPr id="151" name="Google Shape;151;p5"/>
          <p:cNvSpPr/>
          <p:nvPr/>
        </p:nvSpPr>
        <p:spPr>
          <a:xfrm>
            <a:off x="548640" y="1481328"/>
            <a:ext cx="822960" cy="36576"/>
          </a:xfrm>
          <a:prstGeom prst="rect">
            <a:avLst/>
          </a:prstGeom>
          <a:solidFill>
            <a:srgbClr val="E874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 name="Google Shape;152;p5"/>
          <p:cNvSpPr/>
          <p:nvPr/>
        </p:nvSpPr>
        <p:spPr>
          <a:xfrm>
            <a:off x="0" y="6537960"/>
            <a:ext cx="12191695" cy="91440"/>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5"/>
          <p:cNvSpPr txBox="1"/>
          <p:nvPr/>
        </p:nvSpPr>
        <p:spPr>
          <a:xfrm>
            <a:off x="365760" y="6565392"/>
            <a:ext cx="54864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A6372"/>
                </a:solidFill>
                <a:latin typeface="Calibri"/>
                <a:ea typeface="Calibri"/>
                <a:cs typeface="Calibri"/>
                <a:sym typeface="Calibri"/>
              </a:rPr>
              <a:t>NYC Taxi Ride Demand &amp; Opportunity MLOps</a:t>
            </a:r>
            <a:endParaRPr/>
          </a:p>
        </p:txBody>
      </p:sp>
      <p:sp>
        <p:nvSpPr>
          <p:cNvPr id="154" name="Google Shape;154;p5"/>
          <p:cNvSpPr txBox="1"/>
          <p:nvPr/>
        </p:nvSpPr>
        <p:spPr>
          <a:xfrm>
            <a:off x="9994392" y="6565392"/>
            <a:ext cx="1828800"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A6372"/>
                </a:solidFill>
                <a:latin typeface="Calibri"/>
                <a:ea typeface="Calibri"/>
                <a:cs typeface="Calibri"/>
                <a:sym typeface="Calibri"/>
              </a:rPr>
              <a:t>5 / 17</a:t>
            </a:r>
            <a:endParaRPr/>
          </a:p>
        </p:txBody>
      </p:sp>
      <p:sp>
        <p:nvSpPr>
          <p:cNvPr id="155" name="Google Shape;155;p5"/>
          <p:cNvSpPr/>
          <p:nvPr/>
        </p:nvSpPr>
        <p:spPr>
          <a:xfrm>
            <a:off x="548640" y="2103120"/>
            <a:ext cx="1828800" cy="594360"/>
          </a:xfrm>
          <a:prstGeom prst="roundRect">
            <a:avLst>
              <a:gd fmla="val 8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200" u="none" cap="none" strike="noStrike">
                <a:solidFill>
                  <a:srgbClr val="111E33"/>
                </a:solidFill>
                <a:latin typeface="Calibri"/>
                <a:ea typeface="Calibri"/>
                <a:cs typeface="Calibri"/>
                <a:sym typeface="Calibri"/>
              </a:rPr>
              <a:t>get_month</a:t>
            </a:r>
            <a:endParaRPr/>
          </a:p>
        </p:txBody>
      </p:sp>
      <p:sp>
        <p:nvSpPr>
          <p:cNvPr id="156" name="Google Shape;156;p5"/>
          <p:cNvSpPr/>
          <p:nvPr/>
        </p:nvSpPr>
        <p:spPr>
          <a:xfrm>
            <a:off x="2651760" y="2103120"/>
            <a:ext cx="2011680" cy="594360"/>
          </a:xfrm>
          <a:prstGeom prst="roundRect">
            <a:avLst>
              <a:gd fmla="val 8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111E33"/>
                </a:solidFill>
                <a:latin typeface="Calibri"/>
                <a:ea typeface="Calibri"/>
                <a:cs typeface="Calibri"/>
                <a:sym typeface="Calibri"/>
              </a:rPr>
              <a:t>prune_old_data</a:t>
            </a:r>
            <a:endParaRPr/>
          </a:p>
          <a:p>
            <a:pPr indent="0" lvl="0" marL="0" marR="0" rtl="0" algn="ctr">
              <a:spcBef>
                <a:spcPts val="0"/>
              </a:spcBef>
              <a:spcAft>
                <a:spcPts val="0"/>
              </a:spcAft>
              <a:buNone/>
            </a:pPr>
            <a:r>
              <a:rPr b="1" i="0" lang="en-US" sz="1100" u="none" cap="none" strike="noStrike">
                <a:solidFill>
                  <a:srgbClr val="111E33"/>
                </a:solidFill>
                <a:latin typeface="Calibri"/>
                <a:ea typeface="Calibri"/>
                <a:cs typeface="Calibri"/>
                <a:sym typeface="Calibri"/>
              </a:rPr>
              <a:t>(&gt;12 mois)</a:t>
            </a:r>
            <a:endParaRPr/>
          </a:p>
        </p:txBody>
      </p:sp>
      <p:sp>
        <p:nvSpPr>
          <p:cNvPr id="157" name="Google Shape;157;p5"/>
          <p:cNvSpPr/>
          <p:nvPr/>
        </p:nvSpPr>
        <p:spPr>
          <a:xfrm>
            <a:off x="5029200" y="1600200"/>
            <a:ext cx="2468880" cy="685800"/>
          </a:xfrm>
          <a:prstGeom prst="roundRect">
            <a:avLst>
              <a:gd fmla="val 8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111E33"/>
                </a:solidFill>
                <a:latin typeface="Calibri"/>
                <a:ea typeface="Calibri"/>
                <a:cs typeface="Calibri"/>
                <a:sym typeface="Calibri"/>
              </a:rPr>
              <a:t>download_data</a:t>
            </a:r>
            <a:endParaRPr/>
          </a:p>
          <a:p>
            <a:pPr indent="0" lvl="0" marL="0" marR="0" rtl="0" algn="ctr">
              <a:spcBef>
                <a:spcPts val="0"/>
              </a:spcBef>
              <a:spcAft>
                <a:spcPts val="0"/>
              </a:spcAft>
              <a:buNone/>
            </a:pPr>
            <a:r>
              <a:rPr b="1" i="0" lang="en-US" sz="1100" u="none" cap="none" strike="noStrike">
                <a:solidFill>
                  <a:srgbClr val="111E33"/>
                </a:solidFill>
                <a:latin typeface="Calibri"/>
                <a:ea typeface="Calibri"/>
                <a:cs typeface="Calibri"/>
                <a:sym typeface="Calibri"/>
              </a:rPr>
              <a:t>(parquet des courses → S3)</a:t>
            </a:r>
            <a:endParaRPr/>
          </a:p>
        </p:txBody>
      </p:sp>
      <p:sp>
        <p:nvSpPr>
          <p:cNvPr id="158" name="Google Shape;158;p5"/>
          <p:cNvSpPr/>
          <p:nvPr/>
        </p:nvSpPr>
        <p:spPr>
          <a:xfrm>
            <a:off x="5029200" y="2606040"/>
            <a:ext cx="2468880" cy="685800"/>
          </a:xfrm>
          <a:prstGeom prst="roundRect">
            <a:avLst>
              <a:gd fmla="val 8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111E33"/>
                </a:solidFill>
                <a:latin typeface="Calibri"/>
                <a:ea typeface="Calibri"/>
                <a:cs typeface="Calibri"/>
                <a:sym typeface="Calibri"/>
              </a:rPr>
              <a:t>fetch_weather</a:t>
            </a:r>
            <a:endParaRPr/>
          </a:p>
          <a:p>
            <a:pPr indent="0" lvl="0" marL="0" marR="0" rtl="0" algn="ctr">
              <a:spcBef>
                <a:spcPts val="0"/>
              </a:spcBef>
              <a:spcAft>
                <a:spcPts val="0"/>
              </a:spcAft>
              <a:buNone/>
            </a:pPr>
            <a:r>
              <a:rPr b="1" i="0" lang="en-US" sz="1100" u="none" cap="none" strike="noStrike">
                <a:solidFill>
                  <a:srgbClr val="111E33"/>
                </a:solidFill>
                <a:latin typeface="Calibri"/>
                <a:ea typeface="Calibri"/>
                <a:cs typeface="Calibri"/>
                <a:sym typeface="Calibri"/>
              </a:rPr>
              <a:t>(Open-Meteo → S3)</a:t>
            </a:r>
            <a:endParaRPr/>
          </a:p>
        </p:txBody>
      </p:sp>
      <p:sp>
        <p:nvSpPr>
          <p:cNvPr id="159" name="Google Shape;159;p5"/>
          <p:cNvSpPr/>
          <p:nvPr/>
        </p:nvSpPr>
        <p:spPr>
          <a:xfrm>
            <a:off x="7955279" y="2103120"/>
            <a:ext cx="2377440" cy="685800"/>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validate_data</a:t>
            </a:r>
            <a:endParaRPr/>
          </a:p>
          <a:p>
            <a:pPr indent="0" lvl="0" marL="0" marR="0" rtl="0" algn="ctr">
              <a:spcBef>
                <a:spcPts val="0"/>
              </a:spcBef>
              <a:spcAft>
                <a:spcPts val="0"/>
              </a:spcAft>
              <a:buNone/>
            </a:pPr>
            <a:r>
              <a:rPr b="1" i="0" lang="en-US" sz="1200" u="none" cap="none" strike="noStrike">
                <a:solidFill>
                  <a:srgbClr val="FFFFFF"/>
                </a:solidFill>
                <a:latin typeface="Calibri"/>
                <a:ea typeface="Calibri"/>
                <a:cs typeface="Calibri"/>
                <a:sym typeface="Calibri"/>
              </a:rPr>
              <a:t>(vérifications pytest)</a:t>
            </a:r>
            <a:endParaRPr/>
          </a:p>
        </p:txBody>
      </p:sp>
      <p:sp>
        <p:nvSpPr>
          <p:cNvPr id="160" name="Google Shape;160;p5"/>
          <p:cNvSpPr/>
          <p:nvPr/>
        </p:nvSpPr>
        <p:spPr>
          <a:xfrm>
            <a:off x="7955279" y="3474715"/>
            <a:ext cx="2377500" cy="685800"/>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merge_everything</a:t>
            </a:r>
            <a:endParaRPr/>
          </a:p>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(preprocess/merge.py)</a:t>
            </a:r>
            <a:endParaRPr/>
          </a:p>
        </p:txBody>
      </p:sp>
      <p:sp>
        <p:nvSpPr>
          <p:cNvPr id="161" name="Google Shape;161;p5"/>
          <p:cNvSpPr/>
          <p:nvPr/>
        </p:nvSpPr>
        <p:spPr>
          <a:xfrm>
            <a:off x="4937760" y="3474715"/>
            <a:ext cx="2560200" cy="685800"/>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features</a:t>
            </a:r>
            <a:endParaRPr/>
          </a:p>
          <a:p>
            <a:pPr indent="0" lvl="0" marL="0" marR="0" rtl="0" algn="ctr">
              <a:spcBef>
                <a:spcPts val="0"/>
              </a:spcBef>
              <a:spcAft>
                <a:spcPts val="0"/>
              </a:spcAft>
              <a:buNone/>
            </a:pPr>
            <a:r>
              <a:rPr b="1" i="0" lang="en-US" sz="1100" u="none" cap="none" strike="noStrike">
                <a:solidFill>
                  <a:srgbClr val="FFFFFF"/>
                </a:solidFill>
                <a:latin typeface="Calibri"/>
                <a:ea typeface="Calibri"/>
                <a:cs typeface="Calibri"/>
                <a:sym typeface="Calibri"/>
              </a:rPr>
              <a:t>(preprocess/features.py)</a:t>
            </a:r>
            <a:endParaRPr/>
          </a:p>
        </p:txBody>
      </p:sp>
      <p:sp>
        <p:nvSpPr>
          <p:cNvPr id="162" name="Google Shape;162;p5"/>
          <p:cNvSpPr/>
          <p:nvPr/>
        </p:nvSpPr>
        <p:spPr>
          <a:xfrm>
            <a:off x="548640" y="3474715"/>
            <a:ext cx="3931800" cy="685800"/>
          </a:xfrm>
          <a:prstGeom prst="roundRect">
            <a:avLst>
              <a:gd fmla="val 8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200" u="none" cap="none" strike="noStrike">
                <a:solidFill>
                  <a:srgbClr val="111E33"/>
                </a:solidFill>
                <a:latin typeface="Calibri"/>
                <a:ea typeface="Calibri"/>
                <a:cs typeface="Calibri"/>
                <a:sym typeface="Calibri"/>
              </a:rPr>
              <a:t>S3: hourly_zone_timeseries.parquet</a:t>
            </a:r>
            <a:endParaRPr/>
          </a:p>
        </p:txBody>
      </p:sp>
      <p:cxnSp>
        <p:nvCxnSpPr>
          <p:cNvPr id="163" name="Google Shape;163;p5"/>
          <p:cNvCxnSpPr/>
          <p:nvPr/>
        </p:nvCxnSpPr>
        <p:spPr>
          <a:xfrm>
            <a:off x="2377440" y="2400300"/>
            <a:ext cx="274320" cy="0"/>
          </a:xfrm>
          <a:prstGeom prst="straightConnector1">
            <a:avLst/>
          </a:prstGeom>
          <a:noFill/>
          <a:ln cap="flat" cmpd="sng" w="22225">
            <a:solidFill>
              <a:srgbClr val="2E5CB8"/>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164" name="Google Shape;164;p5"/>
          <p:cNvCxnSpPr/>
          <p:nvPr/>
        </p:nvCxnSpPr>
        <p:spPr>
          <a:xfrm flipH="1" rot="10800000">
            <a:off x="4663440" y="1920240"/>
            <a:ext cx="365760" cy="411480"/>
          </a:xfrm>
          <a:prstGeom prst="straightConnector1">
            <a:avLst/>
          </a:prstGeom>
          <a:noFill/>
          <a:ln cap="flat" cmpd="sng" w="22225">
            <a:solidFill>
              <a:srgbClr val="2E5CB8"/>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165" name="Google Shape;165;p5"/>
          <p:cNvCxnSpPr/>
          <p:nvPr/>
        </p:nvCxnSpPr>
        <p:spPr>
          <a:xfrm>
            <a:off x="4663440" y="2468880"/>
            <a:ext cx="365760" cy="457200"/>
          </a:xfrm>
          <a:prstGeom prst="straightConnector1">
            <a:avLst/>
          </a:prstGeom>
          <a:noFill/>
          <a:ln cap="flat" cmpd="sng" w="22225">
            <a:solidFill>
              <a:srgbClr val="2E5CB8"/>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166" name="Google Shape;166;p5"/>
          <p:cNvCxnSpPr/>
          <p:nvPr/>
        </p:nvCxnSpPr>
        <p:spPr>
          <a:xfrm>
            <a:off x="7498079" y="1920240"/>
            <a:ext cx="457200" cy="457200"/>
          </a:xfrm>
          <a:prstGeom prst="straightConnector1">
            <a:avLst/>
          </a:prstGeom>
          <a:noFill/>
          <a:ln cap="flat" cmpd="sng" w="22225">
            <a:solidFill>
              <a:srgbClr val="2E5CB8"/>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167" name="Google Shape;167;p5"/>
          <p:cNvCxnSpPr/>
          <p:nvPr/>
        </p:nvCxnSpPr>
        <p:spPr>
          <a:xfrm flipH="1" rot="10800000">
            <a:off x="7498079" y="2514600"/>
            <a:ext cx="457200" cy="411480"/>
          </a:xfrm>
          <a:prstGeom prst="straightConnector1">
            <a:avLst/>
          </a:prstGeom>
          <a:noFill/>
          <a:ln cap="flat" cmpd="sng" w="22225">
            <a:solidFill>
              <a:srgbClr val="2E5CB8"/>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168" name="Google Shape;168;p5"/>
          <p:cNvCxnSpPr>
            <a:endCxn id="160" idx="0"/>
          </p:cNvCxnSpPr>
          <p:nvPr/>
        </p:nvCxnSpPr>
        <p:spPr>
          <a:xfrm>
            <a:off x="9144029" y="2788915"/>
            <a:ext cx="0" cy="685800"/>
          </a:xfrm>
          <a:prstGeom prst="straightConnector1">
            <a:avLst/>
          </a:prstGeom>
          <a:noFill/>
          <a:ln cap="flat" cmpd="sng" w="22225">
            <a:solidFill>
              <a:srgbClr val="2E5CB8"/>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169" name="Google Shape;169;p5"/>
          <p:cNvCxnSpPr/>
          <p:nvPr/>
        </p:nvCxnSpPr>
        <p:spPr>
          <a:xfrm rot="10800000">
            <a:off x="7498079" y="3817615"/>
            <a:ext cx="457200" cy="0"/>
          </a:xfrm>
          <a:prstGeom prst="straightConnector1">
            <a:avLst/>
          </a:prstGeom>
          <a:noFill/>
          <a:ln cap="flat" cmpd="sng" w="22225">
            <a:solidFill>
              <a:srgbClr val="2E5CB8"/>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170" name="Google Shape;170;p5"/>
          <p:cNvCxnSpPr/>
          <p:nvPr/>
        </p:nvCxnSpPr>
        <p:spPr>
          <a:xfrm rot="10800000">
            <a:off x="4480560" y="3817615"/>
            <a:ext cx="457200" cy="0"/>
          </a:xfrm>
          <a:prstGeom prst="straightConnector1">
            <a:avLst/>
          </a:prstGeom>
          <a:noFill/>
          <a:ln cap="flat" cmpd="sng" w="22225">
            <a:solidFill>
              <a:srgbClr val="2E5CB8"/>
            </a:solidFill>
            <a:prstDash val="solid"/>
            <a:round/>
            <a:headEnd len="sm" w="sm" type="none"/>
            <a:tailEnd len="med" w="med" type="triangle"/>
          </a:ln>
          <a:effectLst>
            <a:outerShdw blurRad="40000" rotWithShape="0" dir="5400000" dist="20000">
              <a:srgbClr val="000000">
                <a:alpha val="38039"/>
              </a:srgbClr>
            </a:outerShdw>
          </a:effectLst>
        </p:spPr>
      </p:cxnSp>
      <p:sp>
        <p:nvSpPr>
          <p:cNvPr id="171" name="Google Shape;171;p5"/>
          <p:cNvSpPr/>
          <p:nvPr/>
        </p:nvSpPr>
        <p:spPr>
          <a:xfrm>
            <a:off x="548640" y="4343400"/>
            <a:ext cx="10881360" cy="1097280"/>
          </a:xfrm>
          <a:prstGeom prst="roundRect">
            <a:avLst>
              <a:gd fmla="val 8000" name="adj"/>
            </a:avLst>
          </a:prstGeom>
          <a:solidFill>
            <a:srgbClr val="FFFFFF"/>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300" u="none" cap="none" strike="noStrike">
                <a:solidFill>
                  <a:srgbClr val="111E33"/>
                </a:solidFill>
                <a:latin typeface="Calibri"/>
                <a:ea typeface="Calibri"/>
                <a:cs typeface="Calibri"/>
                <a:sym typeface="Calibri"/>
              </a:rPr>
              <a:t>Variante EC2 uniquement : trigger_training → démarre automatiquement le DAG d'entraînement (taxi_model_training_ec2_self_stop)</a:t>
            </a:r>
            <a:endParaRPr/>
          </a:p>
          <a:p>
            <a:pPr indent="0" lvl="0" marL="0" marR="0" rtl="0" algn="ctr">
              <a:spcBef>
                <a:spcPts val="0"/>
              </a:spcBef>
              <a:spcAft>
                <a:spcPts val="0"/>
              </a:spcAft>
              <a:buNone/>
            </a:pPr>
            <a:r>
              <a:rPr b="0" i="0" lang="en-US" sz="1300" u="none" cap="none" strike="noStrike">
                <a:solidFill>
                  <a:srgbClr val="111E33"/>
                </a:solidFill>
                <a:latin typeface="Calibri"/>
                <a:ea typeface="Calibri"/>
                <a:cs typeface="Calibri"/>
                <a:sym typeface="Calibri"/>
              </a:rPr>
              <a:t>Variante locale : l'entraînement est déclenché manuellement depuis l'UI Airflow</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6"/>
          <p:cNvSpPr txBox="1"/>
          <p:nvPr/>
        </p:nvSpPr>
        <p:spPr>
          <a:xfrm>
            <a:off x="548640" y="320040"/>
            <a:ext cx="86868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E8743B"/>
                </a:solidFill>
                <a:latin typeface="Calibri"/>
                <a:ea typeface="Calibri"/>
                <a:cs typeface="Calibri"/>
                <a:sym typeface="Calibri"/>
              </a:rPr>
              <a:t>3. PIPELINE</a:t>
            </a:r>
            <a:endParaRPr/>
          </a:p>
        </p:txBody>
      </p:sp>
      <p:sp>
        <p:nvSpPr>
          <p:cNvPr id="177" name="Google Shape;177;p6"/>
          <p:cNvSpPr txBox="1"/>
          <p:nvPr/>
        </p:nvSpPr>
        <p:spPr>
          <a:xfrm>
            <a:off x="548640" y="621792"/>
            <a:ext cx="105156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u="none" cap="none" strike="noStrike">
                <a:solidFill>
                  <a:srgbClr val="111E33"/>
                </a:solidFill>
                <a:latin typeface="Calibri"/>
                <a:ea typeface="Calibri"/>
                <a:cs typeface="Calibri"/>
                <a:sym typeface="Calibri"/>
              </a:rPr>
              <a:t>Ingénierie des features</a:t>
            </a:r>
            <a:endParaRPr/>
          </a:p>
        </p:txBody>
      </p:sp>
      <p:sp>
        <p:nvSpPr>
          <p:cNvPr id="178" name="Google Shape;178;p6"/>
          <p:cNvSpPr txBox="1"/>
          <p:nvPr/>
        </p:nvSpPr>
        <p:spPr>
          <a:xfrm>
            <a:off x="548640" y="1207008"/>
            <a:ext cx="10515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A6372"/>
                </a:solidFill>
                <a:latin typeface="Calibri"/>
                <a:ea typeface="Calibri"/>
                <a:cs typeface="Calibri"/>
                <a:sym typeface="Calibri"/>
              </a:rPr>
              <a:t>preprocess/features.py  tous les calculs s'exécutent dans DuckDB</a:t>
            </a:r>
            <a:endParaRPr/>
          </a:p>
        </p:txBody>
      </p:sp>
      <p:sp>
        <p:nvSpPr>
          <p:cNvPr id="179" name="Google Shape;179;p6"/>
          <p:cNvSpPr/>
          <p:nvPr/>
        </p:nvSpPr>
        <p:spPr>
          <a:xfrm>
            <a:off x="548640" y="1481328"/>
            <a:ext cx="822960" cy="36576"/>
          </a:xfrm>
          <a:prstGeom prst="rect">
            <a:avLst/>
          </a:prstGeom>
          <a:solidFill>
            <a:srgbClr val="E874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 name="Google Shape;180;p6"/>
          <p:cNvSpPr/>
          <p:nvPr/>
        </p:nvSpPr>
        <p:spPr>
          <a:xfrm>
            <a:off x="0" y="6537960"/>
            <a:ext cx="12191695" cy="91440"/>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6"/>
          <p:cNvSpPr txBox="1"/>
          <p:nvPr/>
        </p:nvSpPr>
        <p:spPr>
          <a:xfrm>
            <a:off x="365760" y="6565392"/>
            <a:ext cx="54864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A6372"/>
                </a:solidFill>
                <a:latin typeface="Calibri"/>
                <a:ea typeface="Calibri"/>
                <a:cs typeface="Calibri"/>
                <a:sym typeface="Calibri"/>
              </a:rPr>
              <a:t>NYC Taxi Ride Demand &amp; Opportunity MLOps</a:t>
            </a:r>
            <a:endParaRPr/>
          </a:p>
        </p:txBody>
      </p:sp>
      <p:sp>
        <p:nvSpPr>
          <p:cNvPr id="182" name="Google Shape;182;p6"/>
          <p:cNvSpPr txBox="1"/>
          <p:nvPr/>
        </p:nvSpPr>
        <p:spPr>
          <a:xfrm>
            <a:off x="9994392" y="6565392"/>
            <a:ext cx="1828800"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A6372"/>
                </a:solidFill>
                <a:latin typeface="Calibri"/>
                <a:ea typeface="Calibri"/>
                <a:cs typeface="Calibri"/>
                <a:sym typeface="Calibri"/>
              </a:rPr>
              <a:t>6 / 17</a:t>
            </a:r>
            <a:endParaRPr/>
          </a:p>
        </p:txBody>
      </p:sp>
      <p:sp>
        <p:nvSpPr>
          <p:cNvPr id="183" name="Google Shape;183;p6"/>
          <p:cNvSpPr/>
          <p:nvPr/>
        </p:nvSpPr>
        <p:spPr>
          <a:xfrm>
            <a:off x="548640" y="1920240"/>
            <a:ext cx="3017520" cy="777240"/>
          </a:xfrm>
          <a:prstGeom prst="roundRect">
            <a:avLst>
              <a:gd fmla="val 8000" name="adj"/>
            </a:avLst>
          </a:prstGeom>
          <a:solidFill>
            <a:srgbClr val="FFFFFF"/>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50" u="none" cap="none" strike="noStrike">
                <a:solidFill>
                  <a:srgbClr val="111E33"/>
                </a:solidFill>
                <a:latin typeface="Calibri"/>
                <a:ea typeface="Calibri"/>
                <a:cs typeface="Calibri"/>
                <a:sym typeface="Calibri"/>
              </a:rPr>
              <a:t>Entrée :</a:t>
            </a:r>
            <a:endParaRPr/>
          </a:p>
          <a:p>
            <a:pPr indent="0" lvl="0" marL="0" marR="0" rtl="0" algn="ctr">
              <a:spcBef>
                <a:spcPts val="0"/>
              </a:spcBef>
              <a:spcAft>
                <a:spcPts val="0"/>
              </a:spcAft>
              <a:buNone/>
            </a:pPr>
            <a:r>
              <a:rPr b="1" i="0" lang="en-US" sz="1150" u="none" cap="none" strike="noStrike">
                <a:solidFill>
                  <a:srgbClr val="111E33"/>
                </a:solidFill>
                <a:latin typeface="Calibri"/>
                <a:ea typeface="Calibri"/>
                <a:cs typeface="Calibri"/>
                <a:sym typeface="Calibri"/>
              </a:rPr>
              <a:t>demand_dataset_enriched.parquet</a:t>
            </a:r>
            <a:endParaRPr/>
          </a:p>
        </p:txBody>
      </p:sp>
      <p:sp>
        <p:nvSpPr>
          <p:cNvPr id="184" name="Google Shape;184;p6"/>
          <p:cNvSpPr/>
          <p:nvPr/>
        </p:nvSpPr>
        <p:spPr>
          <a:xfrm>
            <a:off x="4206240" y="1920240"/>
            <a:ext cx="3566160" cy="777240"/>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50" u="none" cap="none" strike="noStrike">
                <a:solidFill>
                  <a:srgbClr val="FFFFFF"/>
                </a:solidFill>
                <a:latin typeface="Calibri"/>
                <a:ea typeface="Calibri"/>
                <a:cs typeface="Calibri"/>
                <a:sym typeface="Calibri"/>
              </a:rPr>
              <a:t>DuckDB</a:t>
            </a:r>
            <a:endParaRPr/>
          </a:p>
          <a:p>
            <a:pPr indent="0" lvl="0" marL="0" marR="0" rtl="0" algn="ctr">
              <a:spcBef>
                <a:spcPts val="0"/>
              </a:spcBef>
              <a:spcAft>
                <a:spcPts val="0"/>
              </a:spcAft>
              <a:buNone/>
            </a:pPr>
            <a:r>
              <a:rPr b="1" i="0" lang="en-US" sz="1150" u="none" cap="none" strike="noStrike">
                <a:solidFill>
                  <a:srgbClr val="FFFFFF"/>
                </a:solidFill>
                <a:latin typeface="Calibri"/>
                <a:ea typeface="Calibri"/>
                <a:cs typeface="Calibri"/>
                <a:sym typeface="Calibri"/>
              </a:rPr>
              <a:t>SQL de features au niveau course + zone-heure</a:t>
            </a:r>
            <a:endParaRPr/>
          </a:p>
        </p:txBody>
      </p:sp>
      <p:sp>
        <p:nvSpPr>
          <p:cNvPr id="185" name="Google Shape;185;p6"/>
          <p:cNvSpPr/>
          <p:nvPr/>
        </p:nvSpPr>
        <p:spPr>
          <a:xfrm>
            <a:off x="8321040" y="1920240"/>
            <a:ext cx="3291840" cy="777240"/>
          </a:xfrm>
          <a:prstGeom prst="roundRect">
            <a:avLst>
              <a:gd fmla="val 8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150" u="none" cap="none" strike="noStrike">
                <a:solidFill>
                  <a:srgbClr val="111E33"/>
                </a:solidFill>
                <a:latin typeface="Calibri"/>
                <a:ea typeface="Calibri"/>
                <a:cs typeface="Calibri"/>
                <a:sym typeface="Calibri"/>
              </a:rPr>
              <a:t>Sortie :</a:t>
            </a:r>
            <a:endParaRPr/>
          </a:p>
          <a:p>
            <a:pPr indent="0" lvl="0" marL="0" marR="0" rtl="0" algn="ctr">
              <a:spcBef>
                <a:spcPts val="0"/>
              </a:spcBef>
              <a:spcAft>
                <a:spcPts val="0"/>
              </a:spcAft>
              <a:buNone/>
            </a:pPr>
            <a:r>
              <a:rPr b="1" i="0" lang="en-US" sz="1150" u="none" cap="none" strike="noStrike">
                <a:solidFill>
                  <a:srgbClr val="111E33"/>
                </a:solidFill>
                <a:latin typeface="Calibri"/>
                <a:ea typeface="Calibri"/>
                <a:cs typeface="Calibri"/>
                <a:sym typeface="Calibri"/>
              </a:rPr>
              <a:t>hourly_zone_timeseries.parquet</a:t>
            </a:r>
            <a:endParaRPr/>
          </a:p>
        </p:txBody>
      </p:sp>
      <p:cxnSp>
        <p:nvCxnSpPr>
          <p:cNvPr id="186" name="Google Shape;186;p6"/>
          <p:cNvCxnSpPr/>
          <p:nvPr/>
        </p:nvCxnSpPr>
        <p:spPr>
          <a:xfrm>
            <a:off x="3611880" y="2308860"/>
            <a:ext cx="594360" cy="0"/>
          </a:xfrm>
          <a:prstGeom prst="straightConnector1">
            <a:avLst/>
          </a:prstGeom>
          <a:noFill/>
          <a:ln cap="flat" cmpd="sng" w="22225">
            <a:solidFill>
              <a:srgbClr val="2E5CB8"/>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187" name="Google Shape;187;p6"/>
          <p:cNvCxnSpPr/>
          <p:nvPr/>
        </p:nvCxnSpPr>
        <p:spPr>
          <a:xfrm>
            <a:off x="7818120" y="2308860"/>
            <a:ext cx="502920" cy="0"/>
          </a:xfrm>
          <a:prstGeom prst="straightConnector1">
            <a:avLst/>
          </a:prstGeom>
          <a:noFill/>
          <a:ln cap="flat" cmpd="sng" w="22225">
            <a:solidFill>
              <a:srgbClr val="2E5CB8"/>
            </a:solidFill>
            <a:prstDash val="solid"/>
            <a:round/>
            <a:headEnd len="sm" w="sm" type="none"/>
            <a:tailEnd len="med" w="med" type="triangle"/>
          </a:ln>
          <a:effectLst>
            <a:outerShdw blurRad="40000" rotWithShape="0" dir="5400000" dist="20000">
              <a:srgbClr val="000000">
                <a:alpha val="38039"/>
              </a:srgbClr>
            </a:outerShdw>
          </a:effectLst>
        </p:spPr>
      </p:cxnSp>
      <p:sp>
        <p:nvSpPr>
          <p:cNvPr id="188" name="Google Shape;188;p6"/>
          <p:cNvSpPr txBox="1"/>
          <p:nvPr/>
        </p:nvSpPr>
        <p:spPr>
          <a:xfrm>
            <a:off x="548640" y="3017520"/>
            <a:ext cx="77724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2E5CB8"/>
                </a:solidFill>
                <a:latin typeface="Calibri"/>
                <a:ea typeface="Calibri"/>
                <a:cs typeface="Calibri"/>
                <a:sym typeface="Calibri"/>
              </a:rPr>
              <a:t>11 groupes de features calculés par zone-heure :</a:t>
            </a:r>
            <a:endParaRPr/>
          </a:p>
        </p:txBody>
      </p:sp>
      <p:sp>
        <p:nvSpPr>
          <p:cNvPr id="189" name="Google Shape;189;p6"/>
          <p:cNvSpPr/>
          <p:nvPr/>
        </p:nvSpPr>
        <p:spPr>
          <a:xfrm>
            <a:off x="548640" y="3474720"/>
            <a:ext cx="2606040" cy="566928"/>
          </a:xfrm>
          <a:prstGeom prst="roundRect">
            <a:avLst>
              <a:gd fmla="val 3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150" u="none" cap="none" strike="noStrike">
                <a:solidFill>
                  <a:srgbClr val="111E33"/>
                </a:solidFill>
                <a:latin typeface="Calibri"/>
                <a:ea typeface="Calibri"/>
                <a:cs typeface="Calibri"/>
                <a:sym typeface="Calibri"/>
              </a:rPr>
              <a:t>Revenu ($/h, pourboires)</a:t>
            </a:r>
            <a:endParaRPr/>
          </a:p>
        </p:txBody>
      </p:sp>
      <p:sp>
        <p:nvSpPr>
          <p:cNvPr id="190" name="Google Shape;190;p6"/>
          <p:cNvSpPr/>
          <p:nvPr/>
        </p:nvSpPr>
        <p:spPr>
          <a:xfrm>
            <a:off x="3337560" y="3474720"/>
            <a:ext cx="2606040" cy="566928"/>
          </a:xfrm>
          <a:prstGeom prst="roundRect">
            <a:avLst>
              <a:gd fmla="val 3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150" u="none" cap="none" strike="noStrike">
                <a:solidFill>
                  <a:srgbClr val="111E33"/>
                </a:solidFill>
                <a:latin typeface="Calibri"/>
                <a:ea typeface="Calibri"/>
                <a:cs typeface="Calibri"/>
                <a:sym typeface="Calibri"/>
              </a:rPr>
              <a:t>Demande (nb de courses)</a:t>
            </a:r>
            <a:endParaRPr/>
          </a:p>
        </p:txBody>
      </p:sp>
      <p:sp>
        <p:nvSpPr>
          <p:cNvPr id="191" name="Google Shape;191;p6"/>
          <p:cNvSpPr/>
          <p:nvPr/>
        </p:nvSpPr>
        <p:spPr>
          <a:xfrm>
            <a:off x="6126480" y="3474720"/>
            <a:ext cx="2606040" cy="566928"/>
          </a:xfrm>
          <a:prstGeom prst="roundRect">
            <a:avLst>
              <a:gd fmla="val 3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150" u="none" cap="none" strike="noStrike">
                <a:solidFill>
                  <a:srgbClr val="111E33"/>
                </a:solidFill>
                <a:latin typeface="Calibri"/>
                <a:ea typeface="Calibri"/>
                <a:cs typeface="Calibri"/>
                <a:sym typeface="Calibri"/>
              </a:rPr>
              <a:t>Concurrence (ratio pickup/dropoff)</a:t>
            </a:r>
            <a:endParaRPr/>
          </a:p>
        </p:txBody>
      </p:sp>
      <p:sp>
        <p:nvSpPr>
          <p:cNvPr id="192" name="Google Shape;192;p6"/>
          <p:cNvSpPr/>
          <p:nvPr/>
        </p:nvSpPr>
        <p:spPr>
          <a:xfrm>
            <a:off x="8915400" y="3474720"/>
            <a:ext cx="2606040" cy="566928"/>
          </a:xfrm>
          <a:prstGeom prst="roundRect">
            <a:avLst>
              <a:gd fmla="val 3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150" u="none" cap="none" strike="noStrike">
                <a:solidFill>
                  <a:srgbClr val="111E33"/>
                </a:solidFill>
                <a:latin typeface="Calibri"/>
                <a:ea typeface="Calibri"/>
                <a:cs typeface="Calibri"/>
                <a:sym typeface="Calibri"/>
              </a:rPr>
              <a:t>Trafic &amp; congestion</a:t>
            </a:r>
            <a:endParaRPr/>
          </a:p>
        </p:txBody>
      </p:sp>
      <p:sp>
        <p:nvSpPr>
          <p:cNvPr id="193" name="Google Shape;193;p6"/>
          <p:cNvSpPr/>
          <p:nvPr/>
        </p:nvSpPr>
        <p:spPr>
          <a:xfrm>
            <a:off x="548640" y="4224528"/>
            <a:ext cx="2606040" cy="566928"/>
          </a:xfrm>
          <a:prstGeom prst="roundRect">
            <a:avLst>
              <a:gd fmla="val 3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150" u="none" cap="none" strike="noStrike">
                <a:solidFill>
                  <a:srgbClr val="111E33"/>
                </a:solidFill>
                <a:latin typeface="Calibri"/>
                <a:ea typeface="Calibri"/>
                <a:cs typeface="Calibri"/>
                <a:sym typeface="Calibri"/>
              </a:rPr>
              <a:t>Météo (pluie, temp., vent)</a:t>
            </a:r>
            <a:endParaRPr/>
          </a:p>
        </p:txBody>
      </p:sp>
      <p:sp>
        <p:nvSpPr>
          <p:cNvPr id="194" name="Google Shape;194;p6"/>
          <p:cNvSpPr/>
          <p:nvPr/>
        </p:nvSpPr>
        <p:spPr>
          <a:xfrm>
            <a:off x="3337560" y="4224528"/>
            <a:ext cx="2606040" cy="566928"/>
          </a:xfrm>
          <a:prstGeom prst="roundRect">
            <a:avLst>
              <a:gd fmla="val 3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150" u="none" cap="none" strike="noStrike">
                <a:solidFill>
                  <a:srgbClr val="111E33"/>
                </a:solidFill>
                <a:latin typeface="Calibri"/>
                <a:ea typeface="Calibri"/>
                <a:cs typeface="Calibri"/>
                <a:sym typeface="Calibri"/>
              </a:rPr>
              <a:t>Activité aéroport</a:t>
            </a:r>
            <a:endParaRPr/>
          </a:p>
        </p:txBody>
      </p:sp>
      <p:sp>
        <p:nvSpPr>
          <p:cNvPr id="195" name="Google Shape;195;p6"/>
          <p:cNvSpPr/>
          <p:nvPr/>
        </p:nvSpPr>
        <p:spPr>
          <a:xfrm>
            <a:off x="6126480" y="4224528"/>
            <a:ext cx="2606040" cy="566928"/>
          </a:xfrm>
          <a:prstGeom prst="roundRect">
            <a:avLst>
              <a:gd fmla="val 3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150" u="none" cap="none" strike="noStrike">
                <a:solidFill>
                  <a:srgbClr val="111E33"/>
                </a:solidFill>
                <a:latin typeface="Calibri"/>
                <a:ea typeface="Calibri"/>
                <a:cs typeface="Calibri"/>
                <a:sym typeface="Calibri"/>
              </a:rPr>
              <a:t>Features décalées (1h, 24h, 7j)</a:t>
            </a:r>
            <a:endParaRPr/>
          </a:p>
        </p:txBody>
      </p:sp>
      <p:sp>
        <p:nvSpPr>
          <p:cNvPr id="196" name="Google Shape;196;p6"/>
          <p:cNvSpPr/>
          <p:nvPr/>
        </p:nvSpPr>
        <p:spPr>
          <a:xfrm>
            <a:off x="8915400" y="4224528"/>
            <a:ext cx="2606040" cy="566928"/>
          </a:xfrm>
          <a:prstGeom prst="roundRect">
            <a:avLst>
              <a:gd fmla="val 3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150" u="none" cap="none" strike="noStrike">
                <a:solidFill>
                  <a:srgbClr val="111E33"/>
                </a:solidFill>
                <a:latin typeface="Calibri"/>
                <a:ea typeface="Calibri"/>
                <a:cs typeface="Calibri"/>
                <a:sym typeface="Calibri"/>
              </a:rPr>
              <a:t>Moyennes glissantes &amp; volatilité</a:t>
            </a:r>
            <a:endParaRPr/>
          </a:p>
        </p:txBody>
      </p:sp>
      <p:sp>
        <p:nvSpPr>
          <p:cNvPr id="197" name="Google Shape;197;p6"/>
          <p:cNvSpPr/>
          <p:nvPr/>
        </p:nvSpPr>
        <p:spPr>
          <a:xfrm>
            <a:off x="548640" y="4974336"/>
            <a:ext cx="2606040" cy="566928"/>
          </a:xfrm>
          <a:prstGeom prst="roundRect">
            <a:avLst>
              <a:gd fmla="val 3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150" u="none" cap="none" strike="noStrike">
                <a:solidFill>
                  <a:srgbClr val="111E33"/>
                </a:solidFill>
                <a:latin typeface="Calibri"/>
                <a:ea typeface="Calibri"/>
                <a:cs typeface="Calibri"/>
                <a:sym typeface="Calibri"/>
              </a:rPr>
              <a:t>Momentum &amp; variations</a:t>
            </a:r>
            <a:endParaRPr/>
          </a:p>
        </p:txBody>
      </p:sp>
      <p:sp>
        <p:nvSpPr>
          <p:cNvPr id="198" name="Google Shape;198;p6"/>
          <p:cNvSpPr/>
          <p:nvPr/>
        </p:nvSpPr>
        <p:spPr>
          <a:xfrm>
            <a:off x="3337560" y="4974336"/>
            <a:ext cx="2606040" cy="566928"/>
          </a:xfrm>
          <a:prstGeom prst="roundRect">
            <a:avLst>
              <a:gd fmla="val 3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150" u="none" cap="none" strike="noStrike">
                <a:solidFill>
                  <a:srgbClr val="111E33"/>
                </a:solidFill>
                <a:latin typeface="Calibri"/>
                <a:ea typeface="Calibri"/>
                <a:cs typeface="Calibri"/>
                <a:sym typeface="Calibri"/>
              </a:rPr>
              <a:t>Temps cyclique (sin/cos)</a:t>
            </a:r>
            <a:endParaRPr/>
          </a:p>
        </p:txBody>
      </p:sp>
      <p:sp>
        <p:nvSpPr>
          <p:cNvPr id="199" name="Google Shape;199;p6"/>
          <p:cNvSpPr/>
          <p:nvPr/>
        </p:nvSpPr>
        <p:spPr>
          <a:xfrm>
            <a:off x="6126480" y="4974336"/>
            <a:ext cx="2606040" cy="566928"/>
          </a:xfrm>
          <a:prstGeom prst="roundRect">
            <a:avLst>
              <a:gd fmla="val 3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150" u="none" cap="none" strike="noStrike">
                <a:solidFill>
                  <a:srgbClr val="111E33"/>
                </a:solidFill>
                <a:latin typeface="Calibri"/>
                <a:ea typeface="Calibri"/>
                <a:cs typeface="Calibri"/>
                <a:sym typeface="Calibri"/>
              </a:rPr>
              <a:t>Calendrier (heure pointe, weekend)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7"/>
          <p:cNvSpPr txBox="1"/>
          <p:nvPr/>
        </p:nvSpPr>
        <p:spPr>
          <a:xfrm>
            <a:off x="548640" y="320040"/>
            <a:ext cx="86868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E8743B"/>
                </a:solidFill>
                <a:latin typeface="Calibri"/>
                <a:ea typeface="Calibri"/>
                <a:cs typeface="Calibri"/>
                <a:sym typeface="Calibri"/>
              </a:rPr>
              <a:t>4. MODÉLISATION</a:t>
            </a:r>
            <a:endParaRPr/>
          </a:p>
        </p:txBody>
      </p:sp>
      <p:sp>
        <p:nvSpPr>
          <p:cNvPr id="205" name="Google Shape;205;p7"/>
          <p:cNvSpPr txBox="1"/>
          <p:nvPr/>
        </p:nvSpPr>
        <p:spPr>
          <a:xfrm>
            <a:off x="548640" y="621792"/>
            <a:ext cx="105156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u="none" cap="none" strike="noStrike">
                <a:solidFill>
                  <a:srgbClr val="111E33"/>
                </a:solidFill>
                <a:latin typeface="Calibri"/>
                <a:ea typeface="Calibri"/>
                <a:cs typeface="Calibri"/>
                <a:sym typeface="Calibri"/>
              </a:rPr>
              <a:t>La pile de 4 modèles</a:t>
            </a:r>
            <a:endParaRPr/>
          </a:p>
        </p:txBody>
      </p:sp>
      <p:sp>
        <p:nvSpPr>
          <p:cNvPr id="206" name="Google Shape;206;p7"/>
          <p:cNvSpPr txBox="1"/>
          <p:nvPr/>
        </p:nvSpPr>
        <p:spPr>
          <a:xfrm>
            <a:off x="548640" y="1207008"/>
            <a:ext cx="10515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A6372"/>
                </a:solidFill>
                <a:latin typeface="Calibri"/>
                <a:ea typeface="Calibri"/>
                <a:cs typeface="Calibri"/>
                <a:sym typeface="Calibri"/>
              </a:rPr>
              <a:t>models/*/train.py  un modèle par signal, réglé avec Optuna</a:t>
            </a:r>
            <a:endParaRPr/>
          </a:p>
        </p:txBody>
      </p:sp>
      <p:sp>
        <p:nvSpPr>
          <p:cNvPr id="207" name="Google Shape;207;p7"/>
          <p:cNvSpPr/>
          <p:nvPr/>
        </p:nvSpPr>
        <p:spPr>
          <a:xfrm>
            <a:off x="548640" y="1481328"/>
            <a:ext cx="822960" cy="36576"/>
          </a:xfrm>
          <a:prstGeom prst="rect">
            <a:avLst/>
          </a:prstGeom>
          <a:solidFill>
            <a:srgbClr val="E874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8" name="Google Shape;208;p7"/>
          <p:cNvSpPr/>
          <p:nvPr/>
        </p:nvSpPr>
        <p:spPr>
          <a:xfrm>
            <a:off x="0" y="6537960"/>
            <a:ext cx="12191695" cy="91440"/>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7"/>
          <p:cNvSpPr txBox="1"/>
          <p:nvPr/>
        </p:nvSpPr>
        <p:spPr>
          <a:xfrm>
            <a:off x="365760" y="6565392"/>
            <a:ext cx="54864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A6372"/>
                </a:solidFill>
                <a:latin typeface="Calibri"/>
                <a:ea typeface="Calibri"/>
                <a:cs typeface="Calibri"/>
                <a:sym typeface="Calibri"/>
              </a:rPr>
              <a:t>NYC Taxi Ride Demand &amp; Opportunity MLOps</a:t>
            </a:r>
            <a:endParaRPr/>
          </a:p>
        </p:txBody>
      </p:sp>
      <p:sp>
        <p:nvSpPr>
          <p:cNvPr id="210" name="Google Shape;210;p7"/>
          <p:cNvSpPr txBox="1"/>
          <p:nvPr/>
        </p:nvSpPr>
        <p:spPr>
          <a:xfrm>
            <a:off x="9994392" y="6565392"/>
            <a:ext cx="1828800"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A6372"/>
                </a:solidFill>
                <a:latin typeface="Calibri"/>
                <a:ea typeface="Calibri"/>
                <a:cs typeface="Calibri"/>
                <a:sym typeface="Calibri"/>
              </a:rPr>
              <a:t>7 / 17</a:t>
            </a:r>
            <a:endParaRPr/>
          </a:p>
        </p:txBody>
      </p:sp>
      <p:graphicFrame>
        <p:nvGraphicFramePr>
          <p:cNvPr id="211" name="Google Shape;211;p7"/>
          <p:cNvGraphicFramePr/>
          <p:nvPr/>
        </p:nvGraphicFramePr>
        <p:xfrm>
          <a:off x="731520" y="1965960"/>
          <a:ext cx="3000000" cy="3000000"/>
        </p:xfrm>
        <a:graphic>
          <a:graphicData uri="http://schemas.openxmlformats.org/drawingml/2006/table">
            <a:tbl>
              <a:tblPr bandRow="1" firstRow="1">
                <a:noFill/>
                <a:tableStyleId>{B8F52E82-BDF4-4230-AC81-4B3E13574797}</a:tableStyleId>
              </a:tblPr>
              <a:tblGrid>
                <a:gridCol w="3108950"/>
                <a:gridCol w="3474725"/>
                <a:gridCol w="4114800"/>
              </a:tblGrid>
              <a:tr h="475500">
                <a:tc>
                  <a:txBody>
                    <a:bodyPr/>
                    <a:lstStyle/>
                    <a:p>
                      <a:pPr indent="0" lvl="0" marL="0" marR="0" rtl="0" algn="l">
                        <a:spcBef>
                          <a:spcPts val="0"/>
                        </a:spcBef>
                        <a:spcAft>
                          <a:spcPts val="0"/>
                        </a:spcAft>
                        <a:buNone/>
                      </a:pPr>
                      <a:r>
                        <a:rPr lang="en-US" sz="1800" u="none" cap="none" strike="noStrike">
                          <a:latin typeface="Calibri"/>
                          <a:ea typeface="Calibri"/>
                          <a:cs typeface="Calibri"/>
                          <a:sym typeface="Calibri"/>
                        </a:rPr>
                        <a:t>Couche</a:t>
                      </a:r>
                      <a:endParaRPr/>
                    </a:p>
                  </a:txBody>
                  <a:tcPr marT="45725" marB="45725" marR="91450" marL="1371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2E5CB8"/>
                    </a:solidFill>
                  </a:tcPr>
                </a:tc>
                <a:tc>
                  <a:txBody>
                    <a:bodyPr/>
                    <a:lstStyle/>
                    <a:p>
                      <a:pPr indent="0" lvl="0" marL="0" marR="0" rtl="0" algn="l">
                        <a:spcBef>
                          <a:spcPts val="0"/>
                        </a:spcBef>
                        <a:spcAft>
                          <a:spcPts val="0"/>
                        </a:spcAft>
                        <a:buNone/>
                      </a:pPr>
                      <a:r>
                        <a:rPr lang="en-US" sz="1800">
                          <a:latin typeface="Calibri"/>
                          <a:ea typeface="Calibri"/>
                          <a:cs typeface="Calibri"/>
                          <a:sym typeface="Calibri"/>
                        </a:rPr>
                        <a:t>Modèle</a:t>
                      </a:r>
                      <a:endParaRPr/>
                    </a:p>
                  </a:txBody>
                  <a:tcPr marT="45725" marB="45725" marR="91450" marL="137150" anchor="ctr">
                    <a:lnL cap="flat" cmpd="sng" w="12700">
                      <a:solidFill>
                        <a:schemeClr val="lt1"/>
                      </a:solidFill>
                      <a:prstDash val="solid"/>
                      <a:round/>
                      <a:headEnd len="sm" w="sm" type="none"/>
                      <a:tailEnd len="sm" w="sm" type="none"/>
                    </a:lnL>
                    <a:solidFill>
                      <a:srgbClr val="2E5CB8"/>
                    </a:solidFill>
                  </a:tcPr>
                </a:tc>
                <a:tc>
                  <a:txBody>
                    <a:bodyPr/>
                    <a:lstStyle/>
                    <a:p>
                      <a:pPr indent="0" lvl="0" marL="0" marR="0" rtl="0" algn="l">
                        <a:spcBef>
                          <a:spcPts val="0"/>
                        </a:spcBef>
                        <a:spcAft>
                          <a:spcPts val="0"/>
                        </a:spcAft>
                        <a:buNone/>
                      </a:pPr>
                      <a:r>
                        <a:rPr lang="en-US" sz="1800">
                          <a:latin typeface="Calibri"/>
                          <a:ea typeface="Calibri"/>
                          <a:cs typeface="Calibri"/>
                          <a:sym typeface="Calibri"/>
                        </a:rPr>
                        <a:t>Cible</a:t>
                      </a:r>
                      <a:endParaRPr/>
                    </a:p>
                  </a:txBody>
                  <a:tcPr marT="45725" marB="45725" marR="91450" marL="137150" anchor="ctr">
                    <a:solidFill>
                      <a:srgbClr val="2E5CB8"/>
                    </a:solidFill>
                  </a:tcPr>
                </a:tc>
              </a:tr>
              <a:tr h="475500">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Demande</a:t>
                      </a:r>
                      <a:endParaRPr/>
                    </a:p>
                  </a:txBody>
                  <a:tcPr marT="45725" marB="45725" marR="91450" marL="137150" anchor="ctr">
                    <a:lnT cap="flat" cmpd="sng" w="38100">
                      <a:solidFill>
                        <a:schemeClr val="lt1"/>
                      </a:solidFill>
                      <a:prstDash val="solid"/>
                      <a:round/>
                      <a:headEnd len="sm" w="sm" type="none"/>
                      <a:tailEnd len="sm" w="sm" type="none"/>
                    </a:lnT>
                    <a:solidFill>
                      <a:srgbClr val="FFFFFF"/>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LGBMRegressor</a:t>
                      </a:r>
                      <a:endParaRPr/>
                    </a:p>
                  </a:txBody>
                  <a:tcPr marT="45725" marB="45725" marR="91450" marL="137150" anchor="ctr">
                    <a:solidFill>
                      <a:srgbClr val="FFFFFF"/>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trip_count</a:t>
                      </a:r>
                      <a:endParaRPr/>
                    </a:p>
                  </a:txBody>
                  <a:tcPr marT="45725" marB="45725" marR="91450" marL="137150" anchor="ctr">
                    <a:solidFill>
                      <a:srgbClr val="FFFFFF"/>
                    </a:solidFill>
                  </a:tcPr>
                </a:tc>
              </a:tr>
              <a:tr h="475500">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Rentabilité</a:t>
                      </a:r>
                      <a:endParaRPr/>
                    </a:p>
                  </a:txBody>
                  <a:tcPr marT="45725" marB="45725" marR="91450" marL="137150" anchor="ctr">
                    <a:solidFill>
                      <a:srgbClr val="F4F5F7"/>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XGBRegressor</a:t>
                      </a:r>
                      <a:endParaRPr/>
                    </a:p>
                  </a:txBody>
                  <a:tcPr marT="45725" marB="45725" marR="91450" marL="137150" anchor="ctr">
                    <a:solidFill>
                      <a:srgbClr val="F4F5F7"/>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target_rph (revenu / heure)</a:t>
                      </a:r>
                      <a:endParaRPr/>
                    </a:p>
                  </a:txBody>
                  <a:tcPr marT="45725" marB="45725" marR="91450" marL="137150" anchor="ctr">
                    <a:solidFill>
                      <a:srgbClr val="F4F5F7"/>
                    </a:solidFill>
                  </a:tcPr>
                </a:tc>
              </a:tr>
              <a:tr h="475500">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Concurrence</a:t>
                      </a:r>
                      <a:endParaRPr/>
                    </a:p>
                  </a:txBody>
                  <a:tcPr marT="45725" marB="45725" marR="91450" marL="137150" anchor="ctr">
                    <a:solidFill>
                      <a:srgbClr val="FFFFFF"/>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LGBMRegressor</a:t>
                      </a:r>
                      <a:endParaRPr/>
                    </a:p>
                  </a:txBody>
                  <a:tcPr marT="45725" marB="45725" marR="91450" marL="137150" anchor="ctr">
                    <a:solidFill>
                      <a:srgbClr val="FFFFFF"/>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score de concurrence composite</a:t>
                      </a:r>
                      <a:endParaRPr/>
                    </a:p>
                  </a:txBody>
                  <a:tcPr marT="45725" marB="45725" marR="91450" marL="137150" anchor="ctr">
                    <a:solidFill>
                      <a:srgbClr val="FFFFFF"/>
                    </a:solidFill>
                  </a:tcPr>
                </a:tc>
              </a:tr>
              <a:tr h="475500">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Pourboire</a:t>
                      </a:r>
                      <a:endParaRPr/>
                    </a:p>
                  </a:txBody>
                  <a:tcPr marT="45725" marB="45725" marR="91450" marL="137150" anchor="ctr">
                    <a:solidFill>
                      <a:srgbClr val="F4F5F7"/>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LogisticRegression</a:t>
                      </a:r>
                      <a:endParaRPr/>
                    </a:p>
                  </a:txBody>
                  <a:tcPr marT="45725" marB="45725" marR="91450" marL="137150" anchor="ctr">
                    <a:solidFill>
                      <a:srgbClr val="F4F5F7"/>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high_tip_zone (binaire)</a:t>
                      </a:r>
                      <a:endParaRPr/>
                    </a:p>
                  </a:txBody>
                  <a:tcPr marT="45725" marB="45725" marR="91450" marL="137150" anchor="ctr">
                    <a:solidFill>
                      <a:srgbClr val="F4F5F7"/>
                    </a:solidFill>
                  </a:tcPr>
                </a:tc>
              </a:tr>
            </a:tbl>
          </a:graphicData>
        </a:graphic>
      </p:graphicFrame>
      <p:sp>
        <p:nvSpPr>
          <p:cNvPr id="212" name="Google Shape;212;p7"/>
          <p:cNvSpPr/>
          <p:nvPr/>
        </p:nvSpPr>
        <p:spPr>
          <a:xfrm>
            <a:off x="1645920" y="4709160"/>
            <a:ext cx="8869680" cy="868680"/>
          </a:xfrm>
          <a:prstGeom prst="roundRect">
            <a:avLst>
              <a:gd fmla="val 8000" name="adj"/>
            </a:avLst>
          </a:prstGeom>
          <a:solidFill>
            <a:srgbClr val="E8743B"/>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500" u="none" cap="none" strike="noStrike">
                <a:solidFill>
                  <a:srgbClr val="FFFFFF"/>
                </a:solidFill>
                <a:latin typeface="Calibri"/>
                <a:ea typeface="Calibri"/>
                <a:cs typeface="Calibri"/>
                <a:sym typeface="Calibri"/>
              </a:rPr>
              <a:t>opportunity_score = 0.35×demande + 0.35×rentabilité + 0.20×concurrence + 0.10×pourboire</a:t>
            </a:r>
            <a:endParaRPr/>
          </a:p>
        </p:txBody>
      </p:sp>
      <p:sp>
        <p:nvSpPr>
          <p:cNvPr id="213" name="Google Shape;213;p7"/>
          <p:cNvSpPr txBox="1"/>
          <p:nvPr/>
        </p:nvSpPr>
        <p:spPr>
          <a:xfrm>
            <a:off x="731520" y="5715000"/>
            <a:ext cx="10698480" cy="3200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1" lang="en-US" sz="1100" u="none" cap="none" strike="noStrike">
                <a:solidFill>
                  <a:srgbClr val="5A6372"/>
                </a:solidFill>
                <a:latin typeface="Calibri"/>
                <a:ea typeface="Calibri"/>
                <a:cs typeface="Calibri"/>
                <a:sym typeface="Calibri"/>
              </a:rPr>
              <a:t>Les hyperparamètres des quatre couches sont réglés avec Optuna (TPE) avant l'entraînement final suivi par MLflow (OPTUNA_N_TRIALS, 20 par défaut).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8"/>
          <p:cNvSpPr txBox="1"/>
          <p:nvPr/>
        </p:nvSpPr>
        <p:spPr>
          <a:xfrm>
            <a:off x="548640" y="320040"/>
            <a:ext cx="86868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E8743B"/>
                </a:solidFill>
                <a:latin typeface="Calibri"/>
                <a:ea typeface="Calibri"/>
                <a:cs typeface="Calibri"/>
                <a:sym typeface="Calibri"/>
              </a:rPr>
              <a:t>3. PIPELINE</a:t>
            </a:r>
            <a:endParaRPr/>
          </a:p>
        </p:txBody>
      </p:sp>
      <p:sp>
        <p:nvSpPr>
          <p:cNvPr id="219" name="Google Shape;219;p8"/>
          <p:cNvSpPr txBox="1"/>
          <p:nvPr/>
        </p:nvSpPr>
        <p:spPr>
          <a:xfrm>
            <a:off x="548640" y="621792"/>
            <a:ext cx="105156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u="none" cap="none" strike="noStrike">
                <a:solidFill>
                  <a:srgbClr val="111E33"/>
                </a:solidFill>
                <a:latin typeface="Calibri"/>
                <a:ea typeface="Calibri"/>
                <a:cs typeface="Calibri"/>
                <a:sym typeface="Calibri"/>
              </a:rPr>
              <a:t>DAG d'entraînement &amp; suivi des expériences</a:t>
            </a:r>
            <a:endParaRPr/>
          </a:p>
        </p:txBody>
      </p:sp>
      <p:sp>
        <p:nvSpPr>
          <p:cNvPr id="220" name="Google Shape;220;p8"/>
          <p:cNvSpPr txBox="1"/>
          <p:nvPr/>
        </p:nvSpPr>
        <p:spPr>
          <a:xfrm>
            <a:off x="548640" y="1207008"/>
            <a:ext cx="105156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A6372"/>
                </a:solidFill>
                <a:latin typeface="Calibri"/>
                <a:ea typeface="Calibri"/>
                <a:cs typeface="Calibri"/>
                <a:sym typeface="Calibri"/>
              </a:rPr>
              <a:t>taxi_model_training / taxi_model_training_ec2_self_stop</a:t>
            </a:r>
            <a:endParaRPr/>
          </a:p>
        </p:txBody>
      </p:sp>
      <p:sp>
        <p:nvSpPr>
          <p:cNvPr id="221" name="Google Shape;221;p8"/>
          <p:cNvSpPr/>
          <p:nvPr/>
        </p:nvSpPr>
        <p:spPr>
          <a:xfrm>
            <a:off x="548640" y="1481328"/>
            <a:ext cx="822960" cy="36576"/>
          </a:xfrm>
          <a:prstGeom prst="rect">
            <a:avLst/>
          </a:prstGeom>
          <a:solidFill>
            <a:srgbClr val="E874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8"/>
          <p:cNvSpPr/>
          <p:nvPr/>
        </p:nvSpPr>
        <p:spPr>
          <a:xfrm>
            <a:off x="0" y="6537960"/>
            <a:ext cx="12191695" cy="91440"/>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8"/>
          <p:cNvSpPr txBox="1"/>
          <p:nvPr/>
        </p:nvSpPr>
        <p:spPr>
          <a:xfrm>
            <a:off x="365760" y="6565392"/>
            <a:ext cx="54864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A6372"/>
                </a:solidFill>
                <a:latin typeface="Calibri"/>
                <a:ea typeface="Calibri"/>
                <a:cs typeface="Calibri"/>
                <a:sym typeface="Calibri"/>
              </a:rPr>
              <a:t>NYC Taxi Ride Demand &amp; Opportunity MLOps</a:t>
            </a:r>
            <a:endParaRPr/>
          </a:p>
        </p:txBody>
      </p:sp>
      <p:sp>
        <p:nvSpPr>
          <p:cNvPr id="224" name="Google Shape;224;p8"/>
          <p:cNvSpPr txBox="1"/>
          <p:nvPr/>
        </p:nvSpPr>
        <p:spPr>
          <a:xfrm>
            <a:off x="9994392" y="6565392"/>
            <a:ext cx="1828800"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A6372"/>
                </a:solidFill>
                <a:latin typeface="Calibri"/>
                <a:ea typeface="Calibri"/>
                <a:cs typeface="Calibri"/>
                <a:sym typeface="Calibri"/>
              </a:rPr>
              <a:t>8 / 17</a:t>
            </a:r>
            <a:endParaRPr/>
          </a:p>
        </p:txBody>
      </p:sp>
      <p:sp>
        <p:nvSpPr>
          <p:cNvPr id="225" name="Google Shape;225;p8"/>
          <p:cNvSpPr/>
          <p:nvPr/>
        </p:nvSpPr>
        <p:spPr>
          <a:xfrm>
            <a:off x="548640" y="2011680"/>
            <a:ext cx="3017520" cy="777240"/>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250" u="none" cap="none" strike="noStrike">
                <a:solidFill>
                  <a:srgbClr val="FFFFFF"/>
                </a:solidFill>
                <a:latin typeface="Calibri"/>
                <a:ea typeface="Calibri"/>
                <a:cs typeface="Calibri"/>
                <a:sym typeface="Calibri"/>
              </a:rPr>
              <a:t>train_model</a:t>
            </a:r>
            <a:endParaRPr/>
          </a:p>
          <a:p>
            <a:pPr indent="0" lvl="0" marL="0" marR="0" rtl="0" algn="ctr">
              <a:spcBef>
                <a:spcPts val="0"/>
              </a:spcBef>
              <a:spcAft>
                <a:spcPts val="0"/>
              </a:spcAft>
              <a:buNone/>
            </a:pPr>
            <a:r>
              <a:rPr b="1" i="0" lang="en-US" sz="1250" u="none" cap="none" strike="noStrike">
                <a:solidFill>
                  <a:srgbClr val="FFFFFF"/>
                </a:solidFill>
                <a:latin typeface="Calibri"/>
                <a:ea typeface="Calibri"/>
                <a:cs typeface="Calibri"/>
                <a:sym typeface="Calibri"/>
              </a:rPr>
              <a:t>(pile à 4 couches + Optuna)</a:t>
            </a:r>
            <a:endParaRPr/>
          </a:p>
        </p:txBody>
      </p:sp>
      <p:sp>
        <p:nvSpPr>
          <p:cNvPr id="226" name="Google Shape;226;p8"/>
          <p:cNvSpPr/>
          <p:nvPr/>
        </p:nvSpPr>
        <p:spPr>
          <a:xfrm>
            <a:off x="3977639" y="2011680"/>
            <a:ext cx="2743200" cy="777240"/>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250" u="none" cap="none" strike="noStrike">
                <a:solidFill>
                  <a:srgbClr val="FFFFFF"/>
                </a:solidFill>
                <a:latin typeface="Calibri"/>
                <a:ea typeface="Calibri"/>
                <a:cs typeface="Calibri"/>
                <a:sym typeface="Calibri"/>
              </a:rPr>
              <a:t>forecast</a:t>
            </a:r>
            <a:endParaRPr/>
          </a:p>
          <a:p>
            <a:pPr indent="0" lvl="0" marL="0" marR="0" rtl="0" algn="ctr">
              <a:spcBef>
                <a:spcPts val="0"/>
              </a:spcBef>
              <a:spcAft>
                <a:spcPts val="0"/>
              </a:spcAft>
              <a:buNone/>
            </a:pPr>
            <a:r>
              <a:rPr b="1" i="0" lang="en-US" sz="1250" u="none" cap="none" strike="noStrike">
                <a:solidFill>
                  <a:srgbClr val="FFFFFF"/>
                </a:solidFill>
                <a:latin typeface="Calibri"/>
                <a:ea typeface="Calibri"/>
                <a:cs typeface="Calibri"/>
                <a:sym typeface="Calibri"/>
              </a:rPr>
              <a:t>(classe les zones-heures)</a:t>
            </a:r>
            <a:endParaRPr/>
          </a:p>
        </p:txBody>
      </p:sp>
      <p:sp>
        <p:nvSpPr>
          <p:cNvPr id="227" name="Google Shape;227;p8"/>
          <p:cNvSpPr/>
          <p:nvPr/>
        </p:nvSpPr>
        <p:spPr>
          <a:xfrm>
            <a:off x="7086600" y="2011680"/>
            <a:ext cx="3017520" cy="777240"/>
          </a:xfrm>
          <a:prstGeom prst="roundRect">
            <a:avLst>
              <a:gd fmla="val 8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250" u="none" cap="none" strike="noStrike">
                <a:solidFill>
                  <a:srgbClr val="111E33"/>
                </a:solidFill>
                <a:latin typeface="Calibri"/>
                <a:ea typeface="Calibri"/>
                <a:cs typeface="Calibri"/>
                <a:sym typeface="Calibri"/>
              </a:rPr>
              <a:t>stop_instance</a:t>
            </a:r>
            <a:endParaRPr/>
          </a:p>
          <a:p>
            <a:pPr indent="0" lvl="0" marL="0" marR="0" rtl="0" algn="ctr">
              <a:spcBef>
                <a:spcPts val="0"/>
              </a:spcBef>
              <a:spcAft>
                <a:spcPts val="0"/>
              </a:spcAft>
              <a:buNone/>
            </a:pPr>
            <a:r>
              <a:rPr b="1" i="0" lang="en-US" sz="1250" u="none" cap="none" strike="noStrike">
                <a:solidFill>
                  <a:srgbClr val="111E33"/>
                </a:solidFill>
                <a:latin typeface="Calibri"/>
                <a:ea typeface="Calibri"/>
                <a:cs typeface="Calibri"/>
                <a:sym typeface="Calibri"/>
              </a:rPr>
              <a:t>(EC2 uniquement)</a:t>
            </a:r>
            <a:endParaRPr/>
          </a:p>
        </p:txBody>
      </p:sp>
      <p:sp>
        <p:nvSpPr>
          <p:cNvPr id="228" name="Google Shape;228;p8"/>
          <p:cNvSpPr txBox="1"/>
          <p:nvPr/>
        </p:nvSpPr>
        <p:spPr>
          <a:xfrm>
            <a:off x="7086600" y="2834640"/>
            <a:ext cx="30175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1000" u="none" cap="none" strike="noStrike">
                <a:solidFill>
                  <a:srgbClr val="5A6372"/>
                </a:solidFill>
                <a:latin typeface="Calibri"/>
                <a:ea typeface="Calibri"/>
                <a:cs typeface="Calibri"/>
                <a:sym typeface="Calibri"/>
              </a:rPr>
              <a:t>(variante EC2 à auto-arrêt uniquement)</a:t>
            </a:r>
            <a:endParaRPr/>
          </a:p>
        </p:txBody>
      </p:sp>
      <p:cxnSp>
        <p:nvCxnSpPr>
          <p:cNvPr id="229" name="Google Shape;229;p8"/>
          <p:cNvCxnSpPr/>
          <p:nvPr/>
        </p:nvCxnSpPr>
        <p:spPr>
          <a:xfrm>
            <a:off x="3566160" y="2400300"/>
            <a:ext cx="411479" cy="0"/>
          </a:xfrm>
          <a:prstGeom prst="straightConnector1">
            <a:avLst/>
          </a:prstGeom>
          <a:noFill/>
          <a:ln cap="flat" cmpd="sng" w="22225">
            <a:solidFill>
              <a:srgbClr val="2E5CB8"/>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30" name="Google Shape;230;p8"/>
          <p:cNvCxnSpPr/>
          <p:nvPr/>
        </p:nvCxnSpPr>
        <p:spPr>
          <a:xfrm>
            <a:off x="6720840" y="2400300"/>
            <a:ext cx="365760" cy="0"/>
          </a:xfrm>
          <a:prstGeom prst="straightConnector1">
            <a:avLst/>
          </a:prstGeom>
          <a:noFill/>
          <a:ln cap="flat" cmpd="sng" w="22225">
            <a:solidFill>
              <a:srgbClr val="5A6372"/>
            </a:solidFill>
            <a:prstDash val="dash"/>
            <a:round/>
            <a:headEnd len="sm" w="sm" type="none"/>
            <a:tailEnd len="med" w="med" type="triangle"/>
          </a:ln>
          <a:effectLst>
            <a:outerShdw blurRad="40000" rotWithShape="0" dir="5400000" dist="20000">
              <a:srgbClr val="000000">
                <a:alpha val="38039"/>
              </a:srgbClr>
            </a:outerShdw>
          </a:effectLst>
        </p:spPr>
      </p:cxnSp>
      <p:sp>
        <p:nvSpPr>
          <p:cNvPr id="231" name="Google Shape;231;p8"/>
          <p:cNvSpPr/>
          <p:nvPr/>
        </p:nvSpPr>
        <p:spPr>
          <a:xfrm>
            <a:off x="548640" y="3291840"/>
            <a:ext cx="4937760" cy="1051560"/>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250" u="none" cap="none" strike="noStrike">
                <a:solidFill>
                  <a:srgbClr val="FFFFFF"/>
                </a:solidFill>
                <a:latin typeface="Calibri"/>
                <a:ea typeface="Calibri"/>
                <a:cs typeface="Calibri"/>
                <a:sym typeface="Calibri"/>
              </a:rPr>
              <a:t>MLflow </a:t>
            </a:r>
            <a:r>
              <a:rPr b="1" lang="en-US" sz="1250">
                <a:solidFill>
                  <a:srgbClr val="FFFFFF"/>
                </a:solidFill>
                <a:latin typeface="Calibri"/>
                <a:ea typeface="Calibri"/>
                <a:cs typeface="Calibri"/>
                <a:sym typeface="Calibri"/>
              </a:rPr>
              <a:t>-</a:t>
            </a:r>
            <a:r>
              <a:rPr b="1" i="0" lang="en-US" sz="1250" u="none" cap="none" strike="noStrike">
                <a:solidFill>
                  <a:srgbClr val="FFFFFF"/>
                </a:solidFill>
                <a:latin typeface="Calibri"/>
                <a:ea typeface="Calibri"/>
                <a:cs typeface="Calibri"/>
                <a:sym typeface="Calibri"/>
              </a:rPr>
              <a:t> local : mlflow:5000, EC2 : Space HF</a:t>
            </a:r>
            <a:endParaRPr/>
          </a:p>
          <a:p>
            <a:pPr indent="0" lvl="0" marL="0" marR="0" rtl="0" algn="ctr">
              <a:spcBef>
                <a:spcPts val="0"/>
              </a:spcBef>
              <a:spcAft>
                <a:spcPts val="0"/>
              </a:spcAft>
              <a:buNone/>
            </a:pPr>
            <a:r>
              <a:rPr b="1" i="0" lang="en-US" sz="1250" u="none" cap="none" strike="noStrike">
                <a:solidFill>
                  <a:srgbClr val="FFFFFF"/>
                </a:solidFill>
                <a:latin typeface="Calibri"/>
                <a:ea typeface="Calibri"/>
                <a:cs typeface="Calibri"/>
                <a:sym typeface="Calibri"/>
              </a:rPr>
              <a:t>paramètres, métriques, artefacts (backend Neon sur EC2)</a:t>
            </a:r>
            <a:endParaRPr/>
          </a:p>
          <a:p>
            <a:pPr indent="0" lvl="0" marL="0" marR="0" rtl="0" algn="ctr">
              <a:spcBef>
                <a:spcPts val="0"/>
              </a:spcBef>
              <a:spcAft>
                <a:spcPts val="0"/>
              </a:spcAft>
              <a:buNone/>
            </a:pPr>
            <a:r>
              <a:rPr b="1" i="0" lang="en-US" sz="1250" u="none" cap="none" strike="noStrike">
                <a:solidFill>
                  <a:srgbClr val="FFFFFF"/>
                </a:solidFill>
                <a:latin typeface="Calibri"/>
                <a:ea typeface="Calibri"/>
                <a:cs typeface="Calibri"/>
                <a:sym typeface="Calibri"/>
              </a:rPr>
              <a:t>registre de modèles </a:t>
            </a:r>
            <a:r>
              <a:rPr b="1" lang="en-US" sz="1250">
                <a:solidFill>
                  <a:srgbClr val="FFFFFF"/>
                </a:solidFill>
                <a:latin typeface="Calibri"/>
                <a:ea typeface="Calibri"/>
                <a:cs typeface="Calibri"/>
                <a:sym typeface="Calibri"/>
              </a:rPr>
              <a:t>-</a:t>
            </a:r>
            <a:r>
              <a:rPr b="1" i="0" lang="en-US" sz="1250" u="none" cap="none" strike="noStrike">
                <a:solidFill>
                  <a:srgbClr val="FFFFFF"/>
                </a:solidFill>
                <a:latin typeface="Calibri"/>
                <a:ea typeface="Calibri"/>
                <a:cs typeface="Calibri"/>
                <a:sym typeface="Calibri"/>
              </a:rPr>
              <a:t> un run par entraînement</a:t>
            </a:r>
            <a:endParaRPr/>
          </a:p>
        </p:txBody>
      </p:sp>
      <p:sp>
        <p:nvSpPr>
          <p:cNvPr id="232" name="Google Shape;232;p8"/>
          <p:cNvSpPr/>
          <p:nvPr/>
        </p:nvSpPr>
        <p:spPr>
          <a:xfrm>
            <a:off x="5760720" y="3291840"/>
            <a:ext cx="4937760" cy="1051560"/>
          </a:xfrm>
          <a:prstGeom prst="roundRect">
            <a:avLst>
              <a:gd fmla="val 8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250" u="none" cap="none" strike="noStrike">
                <a:solidFill>
                  <a:srgbClr val="111E33"/>
                </a:solidFill>
                <a:latin typeface="Calibri"/>
                <a:ea typeface="Calibri"/>
                <a:cs typeface="Calibri"/>
                <a:sym typeface="Calibri"/>
              </a:rPr>
              <a:t>S3</a:t>
            </a:r>
            <a:endParaRPr/>
          </a:p>
          <a:p>
            <a:pPr indent="0" lvl="0" marL="0" marR="0" rtl="0" algn="ctr">
              <a:spcBef>
                <a:spcPts val="0"/>
              </a:spcBef>
              <a:spcAft>
                <a:spcPts val="0"/>
              </a:spcAft>
              <a:buNone/>
            </a:pPr>
            <a:r>
              <a:rPr b="1" i="0" lang="en-US" sz="1250" u="none" cap="none" strike="noStrike">
                <a:solidFill>
                  <a:srgbClr val="111E33"/>
                </a:solidFill>
                <a:latin typeface="Calibri"/>
                <a:ea typeface="Calibri"/>
                <a:cs typeface="Calibri"/>
                <a:sym typeface="Calibri"/>
              </a:rPr>
              <a:t>models/*.pkl (5 modèles + encodeurs)</a:t>
            </a:r>
            <a:endParaRPr/>
          </a:p>
          <a:p>
            <a:pPr indent="0" lvl="0" marL="0" marR="0" rtl="0" algn="ctr">
              <a:spcBef>
                <a:spcPts val="0"/>
              </a:spcBef>
              <a:spcAft>
                <a:spcPts val="0"/>
              </a:spcAft>
              <a:buNone/>
            </a:pPr>
            <a:r>
              <a:rPr b="1" i="0" lang="en-US" sz="1250" u="none" cap="none" strike="noStrike">
                <a:solidFill>
                  <a:srgbClr val="111E33"/>
                </a:solidFill>
                <a:latin typeface="Calibri"/>
                <a:ea typeface="Calibri"/>
                <a:cs typeface="Calibri"/>
                <a:sym typeface="Calibri"/>
              </a:rPr>
              <a:t>forecasts/*.csv (sortie par run)</a:t>
            </a:r>
            <a:endParaRPr/>
          </a:p>
        </p:txBody>
      </p:sp>
      <p:cxnSp>
        <p:nvCxnSpPr>
          <p:cNvPr id="233" name="Google Shape;233;p8"/>
          <p:cNvCxnSpPr/>
          <p:nvPr/>
        </p:nvCxnSpPr>
        <p:spPr>
          <a:xfrm>
            <a:off x="2057400" y="2788920"/>
            <a:ext cx="868680" cy="502920"/>
          </a:xfrm>
          <a:prstGeom prst="straightConnector1">
            <a:avLst/>
          </a:prstGeom>
          <a:noFill/>
          <a:ln cap="flat" cmpd="sng" w="22225">
            <a:solidFill>
              <a:srgbClr val="2E5CB8"/>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234" name="Google Shape;234;p8"/>
          <p:cNvCxnSpPr/>
          <p:nvPr/>
        </p:nvCxnSpPr>
        <p:spPr>
          <a:xfrm>
            <a:off x="5349240" y="2788920"/>
            <a:ext cx="2880360" cy="502920"/>
          </a:xfrm>
          <a:prstGeom prst="straightConnector1">
            <a:avLst/>
          </a:prstGeom>
          <a:noFill/>
          <a:ln cap="flat" cmpd="sng" w="22225">
            <a:solidFill>
              <a:srgbClr val="5A6372"/>
            </a:solidFill>
            <a:prstDash val="dash"/>
            <a:round/>
            <a:headEnd len="sm" w="sm" type="none"/>
            <a:tailEnd len="med" w="med" type="triangle"/>
          </a:ln>
          <a:effectLst>
            <a:outerShdw blurRad="40000" rotWithShape="0" dir="5400000" dist="20000">
              <a:srgbClr val="000000">
                <a:alpha val="38039"/>
              </a:srgbClr>
            </a:outerShdw>
          </a:effectLst>
        </p:spPr>
      </p:cxnSp>
      <p:sp>
        <p:nvSpPr>
          <p:cNvPr id="235" name="Google Shape;235;p8"/>
          <p:cNvSpPr/>
          <p:nvPr/>
        </p:nvSpPr>
        <p:spPr>
          <a:xfrm>
            <a:off x="548640" y="4617720"/>
            <a:ext cx="10881360" cy="1234440"/>
          </a:xfrm>
          <a:prstGeom prst="roundRect">
            <a:avLst>
              <a:gd fmla="val 8000" name="adj"/>
            </a:avLst>
          </a:prstGeom>
          <a:solidFill>
            <a:srgbClr val="FFFFFF"/>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00" u="none" cap="none" strike="noStrike">
                <a:solidFill>
                  <a:srgbClr val="111E33"/>
                </a:solidFill>
                <a:latin typeface="Calibri"/>
                <a:ea typeface="Calibri"/>
                <a:cs typeface="Calibri"/>
                <a:sym typeface="Calibri"/>
              </a:rPr>
              <a:t>Local : train_model et forecast sont déclenchés manuellement depuis l'UI Airflow</a:t>
            </a:r>
            <a:endParaRPr/>
          </a:p>
          <a:p>
            <a:pPr indent="0" lvl="0" marL="0" marR="0" rtl="0" algn="ctr">
              <a:spcBef>
                <a:spcPts val="0"/>
              </a:spcBef>
              <a:spcAft>
                <a:spcPts val="0"/>
              </a:spcAft>
              <a:buNone/>
            </a:pPr>
            <a:r>
              <a:rPr b="0" i="0" lang="en-US" sz="1200" u="none" cap="none" strike="noStrike">
                <a:solidFill>
                  <a:srgbClr val="111E33"/>
                </a:solidFill>
                <a:latin typeface="Calibri"/>
                <a:ea typeface="Calibri"/>
                <a:cs typeface="Calibri"/>
                <a:sym typeface="Calibri"/>
              </a:rPr>
              <a:t>EC2 : l'entraînement se déclenche automatiquement après l'ingestion, puis forecast s'exécute, puis l'instance EC2 s'arrête elle-même</a:t>
            </a:r>
            <a:endParaRPr/>
          </a:p>
          <a:p>
            <a:pPr indent="0" lvl="0" marL="0" marR="0" rtl="0" algn="ctr">
              <a:spcBef>
                <a:spcPts val="0"/>
              </a:spcBef>
              <a:spcAft>
                <a:spcPts val="0"/>
              </a:spcAft>
              <a:buNone/>
            </a:pPr>
            <a:r>
              <a:rPr b="0" i="0" lang="en-US" sz="1200" u="none" cap="none" strike="noStrike">
                <a:solidFill>
                  <a:srgbClr val="111E33"/>
                </a:solidFill>
                <a:latin typeface="Calibri"/>
                <a:ea typeface="Calibri"/>
                <a:cs typeface="Calibri"/>
                <a:sym typeface="Calibri"/>
              </a:rPr>
              <a:t>(stop_instance utilise le rôle IAM de l'instance </a:t>
            </a:r>
            <a:r>
              <a:rPr lang="en-US" sz="1200">
                <a:solidFill>
                  <a:srgbClr val="111E33"/>
                </a:solidFill>
                <a:latin typeface="Calibri"/>
                <a:ea typeface="Calibri"/>
                <a:cs typeface="Calibri"/>
                <a:sym typeface="Calibri"/>
              </a:rPr>
              <a:t>-</a:t>
            </a:r>
            <a:r>
              <a:rPr b="0" i="0" lang="en-US" sz="1200" u="none" cap="none" strike="noStrike">
                <a:solidFill>
                  <a:srgbClr val="111E33"/>
                </a:solidFill>
                <a:latin typeface="Calibri"/>
                <a:ea typeface="Calibri"/>
                <a:cs typeface="Calibri"/>
                <a:sym typeface="Calibri"/>
              </a:rPr>
              <a:t> aucun identifiant supplémentaire nécessaire)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9"/>
          <p:cNvSpPr txBox="1"/>
          <p:nvPr/>
        </p:nvSpPr>
        <p:spPr>
          <a:xfrm>
            <a:off x="548640" y="320040"/>
            <a:ext cx="86868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E8743B"/>
                </a:solidFill>
                <a:latin typeface="Calibri"/>
                <a:ea typeface="Calibri"/>
                <a:cs typeface="Calibri"/>
                <a:sym typeface="Calibri"/>
              </a:rPr>
              <a:t>5. MISE EN SERVICE</a:t>
            </a:r>
            <a:endParaRPr/>
          </a:p>
        </p:txBody>
      </p:sp>
      <p:sp>
        <p:nvSpPr>
          <p:cNvPr id="241" name="Google Shape;241;p9"/>
          <p:cNvSpPr txBox="1"/>
          <p:nvPr/>
        </p:nvSpPr>
        <p:spPr>
          <a:xfrm>
            <a:off x="548640" y="621792"/>
            <a:ext cx="105156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u="none" cap="none" strike="noStrike">
                <a:solidFill>
                  <a:srgbClr val="111E33"/>
                </a:solidFill>
                <a:latin typeface="Calibri"/>
                <a:ea typeface="Calibri"/>
                <a:cs typeface="Calibri"/>
                <a:sym typeface="Calibri"/>
              </a:rPr>
              <a:t>API de prévision</a:t>
            </a:r>
            <a:endParaRPr/>
          </a:p>
        </p:txBody>
      </p:sp>
      <p:sp>
        <p:nvSpPr>
          <p:cNvPr id="242" name="Google Shape;242;p9"/>
          <p:cNvSpPr txBox="1"/>
          <p:nvPr/>
        </p:nvSpPr>
        <p:spPr>
          <a:xfrm>
            <a:off x="548640" y="1207008"/>
            <a:ext cx="10515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A6372"/>
                </a:solidFill>
                <a:latin typeface="Calibri"/>
                <a:ea typeface="Calibri"/>
                <a:cs typeface="Calibri"/>
                <a:sym typeface="Calibri"/>
              </a:rPr>
              <a:t>api/serve.py </a:t>
            </a:r>
            <a:r>
              <a:rPr lang="en-US" sz="1200">
                <a:solidFill>
                  <a:srgbClr val="5A6372"/>
                </a:solidFill>
                <a:latin typeface="Calibri"/>
                <a:ea typeface="Calibri"/>
                <a:cs typeface="Calibri"/>
                <a:sym typeface="Calibri"/>
              </a:rPr>
              <a:t>-</a:t>
            </a:r>
            <a:r>
              <a:rPr b="0" i="0" lang="en-US" sz="1200" u="none" cap="none" strike="noStrike">
                <a:solidFill>
                  <a:srgbClr val="5A6372"/>
                </a:solidFill>
                <a:latin typeface="Calibri"/>
                <a:ea typeface="Calibri"/>
                <a:cs typeface="Calibri"/>
                <a:sym typeface="Calibri"/>
              </a:rPr>
              <a:t> FastAPI, chargement des modèles et du feature store en cache (api/engine.py)</a:t>
            </a:r>
            <a:endParaRPr/>
          </a:p>
        </p:txBody>
      </p:sp>
      <p:sp>
        <p:nvSpPr>
          <p:cNvPr id="243" name="Google Shape;243;p9"/>
          <p:cNvSpPr/>
          <p:nvPr/>
        </p:nvSpPr>
        <p:spPr>
          <a:xfrm>
            <a:off x="548640" y="1481328"/>
            <a:ext cx="822960" cy="36576"/>
          </a:xfrm>
          <a:prstGeom prst="rect">
            <a:avLst/>
          </a:prstGeom>
          <a:solidFill>
            <a:srgbClr val="E874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9"/>
          <p:cNvSpPr/>
          <p:nvPr/>
        </p:nvSpPr>
        <p:spPr>
          <a:xfrm>
            <a:off x="0" y="6537960"/>
            <a:ext cx="12191695" cy="91440"/>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5" name="Google Shape;245;p9"/>
          <p:cNvSpPr txBox="1"/>
          <p:nvPr/>
        </p:nvSpPr>
        <p:spPr>
          <a:xfrm>
            <a:off x="365760" y="6565392"/>
            <a:ext cx="54864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A6372"/>
                </a:solidFill>
                <a:latin typeface="Calibri"/>
                <a:ea typeface="Calibri"/>
                <a:cs typeface="Calibri"/>
                <a:sym typeface="Calibri"/>
              </a:rPr>
              <a:t>NYC Taxi Ride Demand &amp; Opportunity MLOps</a:t>
            </a:r>
            <a:endParaRPr/>
          </a:p>
        </p:txBody>
      </p:sp>
      <p:sp>
        <p:nvSpPr>
          <p:cNvPr id="246" name="Google Shape;246;p9"/>
          <p:cNvSpPr txBox="1"/>
          <p:nvPr/>
        </p:nvSpPr>
        <p:spPr>
          <a:xfrm>
            <a:off x="9994392" y="6565392"/>
            <a:ext cx="1828800"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A6372"/>
                </a:solidFill>
                <a:latin typeface="Calibri"/>
                <a:ea typeface="Calibri"/>
                <a:cs typeface="Calibri"/>
                <a:sym typeface="Calibri"/>
              </a:rPr>
              <a:t>9 / 17</a:t>
            </a:r>
            <a:endParaRPr/>
          </a:p>
        </p:txBody>
      </p:sp>
      <p:graphicFrame>
        <p:nvGraphicFramePr>
          <p:cNvPr id="247" name="Google Shape;247;p9"/>
          <p:cNvGraphicFramePr/>
          <p:nvPr/>
        </p:nvGraphicFramePr>
        <p:xfrm>
          <a:off x="731520" y="1965960"/>
          <a:ext cx="3000000" cy="3000000"/>
        </p:xfrm>
        <a:graphic>
          <a:graphicData uri="http://schemas.openxmlformats.org/drawingml/2006/table">
            <a:tbl>
              <a:tblPr bandRow="1" firstRow="1">
                <a:noFill/>
                <a:tableStyleId>{B8F52E82-BDF4-4230-AC81-4B3E13574797}</a:tableStyleId>
              </a:tblPr>
              <a:tblGrid>
                <a:gridCol w="5486400"/>
                <a:gridCol w="5212075"/>
              </a:tblGrid>
              <a:tr h="457200">
                <a:tc>
                  <a:txBody>
                    <a:bodyPr/>
                    <a:lstStyle/>
                    <a:p>
                      <a:pPr indent="0" lvl="0" marL="0" marR="0" rtl="0" algn="l">
                        <a:spcBef>
                          <a:spcPts val="0"/>
                        </a:spcBef>
                        <a:spcAft>
                          <a:spcPts val="0"/>
                        </a:spcAft>
                        <a:buNone/>
                      </a:pPr>
                      <a:r>
                        <a:rPr lang="en-US" sz="1800">
                          <a:latin typeface="Calibri"/>
                          <a:ea typeface="Calibri"/>
                          <a:cs typeface="Calibri"/>
                          <a:sym typeface="Calibri"/>
                        </a:rPr>
                        <a:t>Endpoint</a:t>
                      </a:r>
                      <a:endParaRPr/>
                    </a:p>
                  </a:txBody>
                  <a:tcPr marT="45725" marB="45725" marR="91450" marL="137150" anchor="ctr">
                    <a:solidFill>
                      <a:srgbClr val="2E5CB8"/>
                    </a:solidFill>
                  </a:tcPr>
                </a:tc>
                <a:tc>
                  <a:txBody>
                    <a:bodyPr/>
                    <a:lstStyle/>
                    <a:p>
                      <a:pPr indent="0" lvl="0" marL="0" marR="0" rtl="0" algn="l">
                        <a:spcBef>
                          <a:spcPts val="0"/>
                        </a:spcBef>
                        <a:spcAft>
                          <a:spcPts val="0"/>
                        </a:spcAft>
                        <a:buNone/>
                      </a:pPr>
                      <a:r>
                        <a:rPr lang="en-US" sz="1800">
                          <a:latin typeface="Calibri"/>
                          <a:ea typeface="Calibri"/>
                          <a:cs typeface="Calibri"/>
                          <a:sym typeface="Calibri"/>
                        </a:rPr>
                        <a:t>Description</a:t>
                      </a:r>
                      <a:endParaRPr/>
                    </a:p>
                  </a:txBody>
                  <a:tcPr marT="45725" marB="45725" marR="91450" marL="137150" anchor="ctr">
                    <a:solidFill>
                      <a:srgbClr val="2E5CB8"/>
                    </a:solidFill>
                  </a:tcPr>
                </a:tc>
              </a:tr>
              <a:tr h="457200">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GET /health</a:t>
                      </a:r>
                      <a:endParaRPr/>
                    </a:p>
                  </a:txBody>
                  <a:tcPr marT="45725" marB="45725" marR="91450" marL="137150" anchor="ctr">
                    <a:solidFill>
                      <a:srgbClr val="FFFFFF"/>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vérification de vivacité</a:t>
                      </a:r>
                      <a:endParaRPr/>
                    </a:p>
                  </a:txBody>
                  <a:tcPr marT="45725" marB="45725" marR="91450" marL="137150" anchor="ctr">
                    <a:solidFill>
                      <a:srgbClr val="FFFFFF"/>
                    </a:solidFill>
                  </a:tcPr>
                </a:tc>
              </a:tr>
              <a:tr h="457200">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GET /meta</a:t>
                      </a:r>
                      <a:endParaRPr/>
                    </a:p>
                  </a:txBody>
                  <a:tcPr marT="45725" marB="45725" marR="91450" marL="137150" anchor="ctr">
                    <a:solidFill>
                      <a:srgbClr val="F4F5F7"/>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dernière heure de données + options rank_by valides</a:t>
                      </a:r>
                      <a:endParaRPr/>
                    </a:p>
                  </a:txBody>
                  <a:tcPr marT="45725" marB="45725" marR="91450" marL="137150" anchor="ctr">
                    <a:solidFill>
                      <a:srgbClr val="F4F5F7"/>
                    </a:solidFill>
                  </a:tcPr>
                </a:tc>
              </a:tr>
              <a:tr h="457200">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GET /forecast?hours=24&amp;top=10&amp;rank_by=opportunity</a:t>
                      </a:r>
                      <a:endParaRPr/>
                    </a:p>
                  </a:txBody>
                  <a:tcPr marT="45725" marB="45725" marR="91450" marL="137150" anchor="ctr">
                    <a:solidFill>
                      <a:srgbClr val="FFFFFF"/>
                    </a:solidFill>
                  </a:tcPr>
                </a:tc>
                <a:tc>
                  <a:txBody>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prévision classée par zone-heure</a:t>
                      </a:r>
                      <a:endParaRPr/>
                    </a:p>
                  </a:txBody>
                  <a:tcPr marT="45725" marB="45725" marR="91450" marL="137150" anchor="ctr">
                    <a:solidFill>
                      <a:srgbClr val="FFFFFF"/>
                    </a:solidFill>
                  </a:tcPr>
                </a:tc>
              </a:tr>
            </a:tbl>
          </a:graphicData>
        </a:graphic>
      </p:graphicFrame>
      <p:sp>
        <p:nvSpPr>
          <p:cNvPr id="248" name="Google Shape;248;p9"/>
          <p:cNvSpPr txBox="1"/>
          <p:nvPr/>
        </p:nvSpPr>
        <p:spPr>
          <a:xfrm>
            <a:off x="731520" y="4069080"/>
            <a:ext cx="1069848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2E5CB8"/>
                </a:solidFill>
                <a:latin typeface="Calibri"/>
                <a:ea typeface="Calibri"/>
                <a:cs typeface="Calibri"/>
                <a:sym typeface="Calibri"/>
              </a:rPr>
              <a:t>Options rank_by :</a:t>
            </a:r>
            <a:endParaRPr/>
          </a:p>
        </p:txBody>
      </p:sp>
      <p:sp>
        <p:nvSpPr>
          <p:cNvPr id="249" name="Google Shape;249;p9"/>
          <p:cNvSpPr/>
          <p:nvPr/>
        </p:nvSpPr>
        <p:spPr>
          <a:xfrm>
            <a:off x="731520" y="4434840"/>
            <a:ext cx="1097280" cy="457200"/>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00" u="none" cap="none" strike="noStrike">
                <a:solidFill>
                  <a:srgbClr val="111E33"/>
                </a:solidFill>
                <a:latin typeface="Calibri"/>
                <a:ea typeface="Calibri"/>
                <a:cs typeface="Calibri"/>
                <a:sym typeface="Calibri"/>
              </a:rPr>
              <a:t>demand</a:t>
            </a:r>
            <a:endParaRPr/>
          </a:p>
        </p:txBody>
      </p:sp>
      <p:sp>
        <p:nvSpPr>
          <p:cNvPr id="250" name="Google Shape;250;p9"/>
          <p:cNvSpPr/>
          <p:nvPr/>
        </p:nvSpPr>
        <p:spPr>
          <a:xfrm>
            <a:off x="1965960" y="4434840"/>
            <a:ext cx="1097280" cy="457200"/>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00" u="none" cap="none" strike="noStrike">
                <a:solidFill>
                  <a:srgbClr val="111E33"/>
                </a:solidFill>
                <a:latin typeface="Calibri"/>
                <a:ea typeface="Calibri"/>
                <a:cs typeface="Calibri"/>
                <a:sym typeface="Calibri"/>
              </a:rPr>
              <a:t>profit</a:t>
            </a:r>
            <a:endParaRPr/>
          </a:p>
        </p:txBody>
      </p:sp>
      <p:sp>
        <p:nvSpPr>
          <p:cNvPr id="251" name="Google Shape;251;p9"/>
          <p:cNvSpPr/>
          <p:nvPr/>
        </p:nvSpPr>
        <p:spPr>
          <a:xfrm>
            <a:off x="3200400" y="4434840"/>
            <a:ext cx="1554480" cy="457200"/>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00" u="none" cap="none" strike="noStrike">
                <a:solidFill>
                  <a:srgbClr val="111E33"/>
                </a:solidFill>
                <a:latin typeface="Calibri"/>
                <a:ea typeface="Calibri"/>
                <a:cs typeface="Calibri"/>
                <a:sym typeface="Calibri"/>
              </a:rPr>
              <a:t>competition</a:t>
            </a:r>
            <a:endParaRPr/>
          </a:p>
        </p:txBody>
      </p:sp>
      <p:sp>
        <p:nvSpPr>
          <p:cNvPr id="252" name="Google Shape;252;p9"/>
          <p:cNvSpPr/>
          <p:nvPr/>
        </p:nvSpPr>
        <p:spPr>
          <a:xfrm>
            <a:off x="4892040" y="4434840"/>
            <a:ext cx="822960" cy="457200"/>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00" u="none" cap="none" strike="noStrike">
                <a:solidFill>
                  <a:srgbClr val="111E33"/>
                </a:solidFill>
                <a:latin typeface="Calibri"/>
                <a:ea typeface="Calibri"/>
                <a:cs typeface="Calibri"/>
                <a:sym typeface="Calibri"/>
              </a:rPr>
              <a:t>tip</a:t>
            </a:r>
            <a:endParaRPr/>
          </a:p>
        </p:txBody>
      </p:sp>
      <p:sp>
        <p:nvSpPr>
          <p:cNvPr id="253" name="Google Shape;253;p9"/>
          <p:cNvSpPr/>
          <p:nvPr/>
        </p:nvSpPr>
        <p:spPr>
          <a:xfrm>
            <a:off x="5852160" y="4434840"/>
            <a:ext cx="1554480" cy="457200"/>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00" u="none" cap="none" strike="noStrike">
                <a:solidFill>
                  <a:srgbClr val="111E33"/>
                </a:solidFill>
                <a:latin typeface="Calibri"/>
                <a:ea typeface="Calibri"/>
                <a:cs typeface="Calibri"/>
                <a:sym typeface="Calibri"/>
              </a:rPr>
              <a:t>opportunity</a:t>
            </a:r>
            <a:endParaRPr/>
          </a:p>
        </p:txBody>
      </p:sp>
      <p:sp>
        <p:nvSpPr>
          <p:cNvPr id="254" name="Google Shape;254;p9"/>
          <p:cNvSpPr txBox="1"/>
          <p:nvPr/>
        </p:nvSpPr>
        <p:spPr>
          <a:xfrm>
            <a:off x="731520" y="5166360"/>
            <a:ext cx="1069848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1150" u="none" cap="none" strike="noStrike">
                <a:solidFill>
                  <a:srgbClr val="5A6372"/>
                </a:solidFill>
                <a:latin typeface="Calibri"/>
                <a:ea typeface="Calibri"/>
                <a:cs typeface="Calibri"/>
                <a:sym typeface="Calibri"/>
              </a:rPr>
              <a:t>Les modèles et le feature store sont chargés depuis S3 une fois par processus puis mis en cache en mémoire.</a:t>
            </a:r>
            <a:endParaRPr/>
          </a:p>
        </p:txBody>
      </p:sp>
      <p:sp>
        <p:nvSpPr>
          <p:cNvPr id="255" name="Google Shape;255;p9"/>
          <p:cNvSpPr/>
          <p:nvPr/>
        </p:nvSpPr>
        <p:spPr>
          <a:xfrm>
            <a:off x="731520" y="5623560"/>
            <a:ext cx="10698480" cy="502920"/>
          </a:xfrm>
          <a:prstGeom prst="roundRect">
            <a:avLst>
              <a:gd fmla="val 8000" name="adj"/>
            </a:avLst>
          </a:prstGeom>
          <a:solidFill>
            <a:srgbClr val="FFFFFF"/>
          </a:solidFill>
          <a:ln cap="flat" cmpd="sng" w="12700">
            <a:solidFill>
              <a:srgbClr val="E8743B"/>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200" u="none" cap="none" strike="noStrike">
                <a:solidFill>
                  <a:srgbClr val="111E33"/>
                </a:solidFill>
                <a:latin typeface="Calibri"/>
                <a:ea typeface="Calibri"/>
                <a:cs typeface="Calibri"/>
                <a:sym typeface="Calibri"/>
              </a:rPr>
              <a:t>Limitation de débit slowapi : 5 requêtes / minute sur /forecast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0"/>
          <p:cNvSpPr txBox="1"/>
          <p:nvPr/>
        </p:nvSpPr>
        <p:spPr>
          <a:xfrm>
            <a:off x="548640" y="320040"/>
            <a:ext cx="86868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E8743B"/>
                </a:solidFill>
                <a:latin typeface="Calibri"/>
                <a:ea typeface="Calibri"/>
                <a:cs typeface="Calibri"/>
                <a:sym typeface="Calibri"/>
              </a:rPr>
              <a:t>6. SUPERVISION</a:t>
            </a:r>
            <a:endParaRPr/>
          </a:p>
        </p:txBody>
      </p:sp>
      <p:sp>
        <p:nvSpPr>
          <p:cNvPr id="261" name="Google Shape;261;p10"/>
          <p:cNvSpPr txBox="1"/>
          <p:nvPr/>
        </p:nvSpPr>
        <p:spPr>
          <a:xfrm>
            <a:off x="548640" y="621792"/>
            <a:ext cx="105156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u="none" cap="none" strike="noStrike">
                <a:solidFill>
                  <a:srgbClr val="111E33"/>
                </a:solidFill>
                <a:latin typeface="Calibri"/>
                <a:ea typeface="Calibri"/>
                <a:cs typeface="Calibri"/>
                <a:sym typeface="Calibri"/>
              </a:rPr>
              <a:t>Tableau de bord de supervision en direct</a:t>
            </a:r>
            <a:endParaRPr/>
          </a:p>
        </p:txBody>
      </p:sp>
      <p:sp>
        <p:nvSpPr>
          <p:cNvPr id="262" name="Google Shape;262;p10"/>
          <p:cNvSpPr txBox="1"/>
          <p:nvPr/>
        </p:nvSpPr>
        <p:spPr>
          <a:xfrm>
            <a:off x="548640" y="1207008"/>
            <a:ext cx="10515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A6372"/>
                </a:solidFill>
                <a:latin typeface="Calibri"/>
                <a:ea typeface="Calibri"/>
                <a:cs typeface="Calibri"/>
                <a:sym typeface="Calibri"/>
              </a:rPr>
              <a:t>app/streamlit_app.py  lit les fichiers forecasts/*.csv depuis S3</a:t>
            </a:r>
            <a:endParaRPr/>
          </a:p>
        </p:txBody>
      </p:sp>
      <p:sp>
        <p:nvSpPr>
          <p:cNvPr id="263" name="Google Shape;263;p10"/>
          <p:cNvSpPr/>
          <p:nvPr/>
        </p:nvSpPr>
        <p:spPr>
          <a:xfrm>
            <a:off x="548640" y="1481328"/>
            <a:ext cx="822960" cy="36576"/>
          </a:xfrm>
          <a:prstGeom prst="rect">
            <a:avLst/>
          </a:prstGeom>
          <a:solidFill>
            <a:srgbClr val="E874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4" name="Google Shape;264;p10"/>
          <p:cNvSpPr/>
          <p:nvPr/>
        </p:nvSpPr>
        <p:spPr>
          <a:xfrm>
            <a:off x="0" y="6537960"/>
            <a:ext cx="12191695" cy="91440"/>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5" name="Google Shape;265;p10"/>
          <p:cNvSpPr txBox="1"/>
          <p:nvPr/>
        </p:nvSpPr>
        <p:spPr>
          <a:xfrm>
            <a:off x="365760" y="6565392"/>
            <a:ext cx="54864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A6372"/>
                </a:solidFill>
                <a:latin typeface="Calibri"/>
                <a:ea typeface="Calibri"/>
                <a:cs typeface="Calibri"/>
                <a:sym typeface="Calibri"/>
              </a:rPr>
              <a:t>NYC Taxi Ride Demand &amp; Opportunity MLOps</a:t>
            </a:r>
            <a:endParaRPr/>
          </a:p>
        </p:txBody>
      </p:sp>
      <p:sp>
        <p:nvSpPr>
          <p:cNvPr id="266" name="Google Shape;266;p10"/>
          <p:cNvSpPr txBox="1"/>
          <p:nvPr/>
        </p:nvSpPr>
        <p:spPr>
          <a:xfrm>
            <a:off x="9994392" y="6565392"/>
            <a:ext cx="1828800"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A6372"/>
                </a:solidFill>
                <a:latin typeface="Calibri"/>
                <a:ea typeface="Calibri"/>
                <a:cs typeface="Calibri"/>
                <a:sym typeface="Calibri"/>
              </a:rPr>
              <a:t>10 / 17</a:t>
            </a:r>
            <a:endParaRPr/>
          </a:p>
        </p:txBody>
      </p:sp>
      <p:sp>
        <p:nvSpPr>
          <p:cNvPr id="267" name="Google Shape;267;p10"/>
          <p:cNvSpPr/>
          <p:nvPr/>
        </p:nvSpPr>
        <p:spPr>
          <a:xfrm>
            <a:off x="548640" y="1920240"/>
            <a:ext cx="2926080" cy="4023360"/>
          </a:xfrm>
          <a:prstGeom prst="roundRect">
            <a:avLst>
              <a:gd fmla="val 8000" name="adj"/>
            </a:avLst>
          </a:prstGeom>
          <a:solidFill>
            <a:srgbClr val="111E33"/>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8" name="Google Shape;268;p10"/>
          <p:cNvSpPr txBox="1"/>
          <p:nvPr/>
        </p:nvSpPr>
        <p:spPr>
          <a:xfrm>
            <a:off x="777240" y="2103120"/>
            <a:ext cx="246888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FFFFFF"/>
                </a:solidFill>
                <a:latin typeface="Calibri"/>
                <a:ea typeface="Calibri"/>
                <a:cs typeface="Calibri"/>
                <a:sym typeface="Calibri"/>
              </a:rPr>
              <a:t>Contrôles</a:t>
            </a:r>
            <a:endParaRPr/>
          </a:p>
        </p:txBody>
      </p:sp>
      <p:sp>
        <p:nvSpPr>
          <p:cNvPr id="269" name="Google Shape;269;p10"/>
          <p:cNvSpPr txBox="1"/>
          <p:nvPr/>
        </p:nvSpPr>
        <p:spPr>
          <a:xfrm>
            <a:off x="777240" y="2560320"/>
            <a:ext cx="24688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AA9C7"/>
                </a:solidFill>
                <a:latin typeface="Calibri"/>
                <a:ea typeface="Calibri"/>
                <a:cs typeface="Calibri"/>
                <a:sym typeface="Calibri"/>
              </a:rPr>
              <a:t>Heure de prévision</a:t>
            </a:r>
            <a:endParaRPr/>
          </a:p>
        </p:txBody>
      </p:sp>
      <p:sp>
        <p:nvSpPr>
          <p:cNvPr id="270" name="Google Shape;270;p10"/>
          <p:cNvSpPr/>
          <p:nvPr/>
        </p:nvSpPr>
        <p:spPr>
          <a:xfrm>
            <a:off x="777240" y="2834640"/>
            <a:ext cx="2468880" cy="384048"/>
          </a:xfrm>
          <a:prstGeom prst="roundRect">
            <a:avLst>
              <a:gd fmla="val 8000" name="adj"/>
            </a:avLst>
          </a:prstGeom>
          <a:solidFill>
            <a:srgbClr val="33415C"/>
          </a:solidFill>
          <a:ln>
            <a:noFill/>
          </a:ln>
        </p:spPr>
        <p:txBody>
          <a:bodyPr anchorCtr="0" anchor="ctr" bIns="27425" lIns="73150" spcFirstLastPara="1" rIns="73150" wrap="square" tIns="27425">
            <a:noAutofit/>
          </a:bodyPr>
          <a:lstStyle/>
          <a:p>
            <a:pPr indent="0" lvl="0" marL="0" marR="0" rtl="0" algn="l">
              <a:spcBef>
                <a:spcPts val="0"/>
              </a:spcBef>
              <a:spcAft>
                <a:spcPts val="0"/>
              </a:spcAft>
              <a:buNone/>
            </a:pPr>
            <a:r>
              <a:rPr b="0" i="0" lang="en-US" sz="1050" u="none" cap="none" strike="noStrike">
                <a:solidFill>
                  <a:srgbClr val="FFFFFF"/>
                </a:solidFill>
                <a:latin typeface="Calibri"/>
                <a:ea typeface="Calibri"/>
                <a:cs typeface="Calibri"/>
                <a:sym typeface="Calibri"/>
              </a:rPr>
              <a:t>2026-03-01 23:00</a:t>
            </a:r>
            <a:endParaRPr/>
          </a:p>
        </p:txBody>
      </p:sp>
      <p:sp>
        <p:nvSpPr>
          <p:cNvPr id="271" name="Google Shape;271;p10"/>
          <p:cNvSpPr txBox="1"/>
          <p:nvPr/>
        </p:nvSpPr>
        <p:spPr>
          <a:xfrm>
            <a:off x="777240" y="3337560"/>
            <a:ext cx="24688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AA9C7"/>
                </a:solidFill>
                <a:latin typeface="Calibri"/>
                <a:ea typeface="Calibri"/>
                <a:cs typeface="Calibri"/>
                <a:sym typeface="Calibri"/>
              </a:rPr>
              <a:t>Colorer par</a:t>
            </a:r>
            <a:endParaRPr/>
          </a:p>
        </p:txBody>
      </p:sp>
      <p:sp>
        <p:nvSpPr>
          <p:cNvPr id="272" name="Google Shape;272;p10"/>
          <p:cNvSpPr/>
          <p:nvPr/>
        </p:nvSpPr>
        <p:spPr>
          <a:xfrm>
            <a:off x="777240" y="3611880"/>
            <a:ext cx="2468880" cy="384048"/>
          </a:xfrm>
          <a:prstGeom prst="roundRect">
            <a:avLst>
              <a:gd fmla="val 8000" name="adj"/>
            </a:avLst>
          </a:prstGeom>
          <a:solidFill>
            <a:srgbClr val="33415C"/>
          </a:solidFill>
          <a:ln>
            <a:noFill/>
          </a:ln>
        </p:spPr>
        <p:txBody>
          <a:bodyPr anchorCtr="0" anchor="ctr" bIns="27425" lIns="73150" spcFirstLastPara="1" rIns="73150" wrap="square" tIns="27425">
            <a:noAutofit/>
          </a:bodyPr>
          <a:lstStyle/>
          <a:p>
            <a:pPr indent="0" lvl="0" marL="0" marR="0" rtl="0" algn="l">
              <a:spcBef>
                <a:spcPts val="0"/>
              </a:spcBef>
              <a:spcAft>
                <a:spcPts val="0"/>
              </a:spcAft>
              <a:buNone/>
            </a:pPr>
            <a:r>
              <a:rPr b="0" i="0" lang="en-US" sz="1050" u="none" cap="none" strike="noStrike">
                <a:solidFill>
                  <a:srgbClr val="FFFFFF"/>
                </a:solidFill>
                <a:latin typeface="Calibri"/>
                <a:ea typeface="Calibri"/>
                <a:cs typeface="Calibri"/>
                <a:sym typeface="Calibri"/>
              </a:rPr>
              <a:t>pred_rph</a:t>
            </a:r>
            <a:endParaRPr/>
          </a:p>
        </p:txBody>
      </p:sp>
      <p:sp>
        <p:nvSpPr>
          <p:cNvPr id="273" name="Google Shape;273;p10"/>
          <p:cNvSpPr/>
          <p:nvPr/>
        </p:nvSpPr>
        <p:spPr>
          <a:xfrm>
            <a:off x="777240" y="4160520"/>
            <a:ext cx="2468880" cy="1691640"/>
          </a:xfrm>
          <a:prstGeom prst="roundRect">
            <a:avLst>
              <a:gd fmla="val 8000" name="adj"/>
            </a:avLst>
          </a:prstGeom>
          <a:solidFill>
            <a:srgbClr val="1A2740"/>
          </a:solidFill>
          <a:ln>
            <a:noFill/>
          </a:ln>
        </p:spPr>
        <p:txBody>
          <a:bodyPr anchorCtr="0" anchor="ctr" bIns="27425" lIns="73150" spcFirstLastPara="1" rIns="73150" wrap="square" tIns="27425">
            <a:noAutofit/>
          </a:bodyPr>
          <a:lstStyle/>
          <a:p>
            <a:pPr indent="0" lvl="0" marL="0" marR="0" rtl="0" algn="l">
              <a:spcBef>
                <a:spcPts val="0"/>
              </a:spcBef>
              <a:spcAft>
                <a:spcPts val="0"/>
              </a:spcAft>
              <a:buNone/>
            </a:pPr>
            <a:r>
              <a:rPr b="0" i="0" lang="en-US" sz="950" u="none" cap="none" strike="noStrike">
                <a:solidFill>
                  <a:srgbClr val="CFE0FF"/>
                </a:solidFill>
                <a:latin typeface="Calibri"/>
                <a:ea typeface="Calibri"/>
                <a:cs typeface="Calibri"/>
                <a:sym typeface="Calibri"/>
              </a:rPr>
              <a:t>Accès API</a:t>
            </a:r>
            <a:endParaRPr/>
          </a:p>
          <a:p>
            <a:pPr indent="0" lvl="0" marL="0" marR="0" rtl="0" algn="l">
              <a:spcBef>
                <a:spcPts val="0"/>
              </a:spcBef>
              <a:spcAft>
                <a:spcPts val="0"/>
              </a:spcAft>
              <a:buNone/>
            </a:pPr>
            <a:r>
              <a:t/>
            </a:r>
            <a:endParaRPr b="0" i="0" sz="950" u="none" cap="none" strike="noStrike">
              <a:solidFill>
                <a:srgbClr val="CFE0FF"/>
              </a:solidFill>
              <a:latin typeface="Calibri"/>
              <a:ea typeface="Calibri"/>
              <a:cs typeface="Calibri"/>
              <a:sym typeface="Calibri"/>
            </a:endParaRPr>
          </a:p>
          <a:p>
            <a:pPr indent="0" lvl="0" marL="0" marR="0" rtl="0" algn="l">
              <a:spcBef>
                <a:spcPts val="0"/>
              </a:spcBef>
              <a:spcAft>
                <a:spcPts val="0"/>
              </a:spcAft>
              <a:buNone/>
            </a:pPr>
            <a:r>
              <a:rPr b="0" i="0" lang="en-US" sz="950" u="none" cap="none" strike="noStrike">
                <a:solidFill>
                  <a:srgbClr val="CFE0FF"/>
                </a:solidFill>
                <a:latin typeface="Calibri"/>
                <a:ea typeface="Calibri"/>
                <a:cs typeface="Calibri"/>
                <a:sym typeface="Calibri"/>
              </a:rPr>
              <a:t>Documentation interactive : /docs</a:t>
            </a:r>
            <a:endParaRPr/>
          </a:p>
          <a:p>
            <a:pPr indent="0" lvl="0" marL="0" marR="0" rtl="0" algn="l">
              <a:spcBef>
                <a:spcPts val="0"/>
              </a:spcBef>
              <a:spcAft>
                <a:spcPts val="0"/>
              </a:spcAft>
              <a:buNone/>
            </a:pPr>
            <a:r>
              <a:rPr b="0" i="0" lang="en-US" sz="950" u="none" cap="none" strike="noStrike">
                <a:solidFill>
                  <a:srgbClr val="CFE0FF"/>
                </a:solidFill>
                <a:latin typeface="Calibri"/>
                <a:ea typeface="Calibri"/>
                <a:cs typeface="Calibri"/>
                <a:sym typeface="Calibri"/>
              </a:rPr>
              <a:t>GET /forecast?hours=24</a:t>
            </a:r>
            <a:endParaRPr/>
          </a:p>
          <a:p>
            <a:pPr indent="0" lvl="0" marL="0" marR="0" rtl="0" algn="l">
              <a:spcBef>
                <a:spcPts val="0"/>
              </a:spcBef>
              <a:spcAft>
                <a:spcPts val="0"/>
              </a:spcAft>
              <a:buNone/>
            </a:pPr>
            <a:r>
              <a:rPr b="0" i="0" lang="en-US" sz="950" u="none" cap="none" strike="noStrike">
                <a:solidFill>
                  <a:srgbClr val="CFE0FF"/>
                </a:solidFill>
                <a:latin typeface="Calibri"/>
                <a:ea typeface="Calibri"/>
                <a:cs typeface="Calibri"/>
                <a:sym typeface="Calibri"/>
              </a:rPr>
              <a:t>&amp;top=10&amp;rank_by=opportunity</a:t>
            </a:r>
            <a:endParaRPr/>
          </a:p>
          <a:p>
            <a:pPr indent="0" lvl="0" marL="0" marR="0" rtl="0" algn="l">
              <a:spcBef>
                <a:spcPts val="0"/>
              </a:spcBef>
              <a:spcAft>
                <a:spcPts val="0"/>
              </a:spcAft>
              <a:buNone/>
            </a:pPr>
            <a:r>
              <a:rPr b="0" i="0" lang="en-US" sz="950" u="none" cap="none" strike="noStrike">
                <a:solidFill>
                  <a:srgbClr val="CFE0FF"/>
                </a:solidFill>
                <a:latin typeface="Calibri"/>
                <a:ea typeface="Calibri"/>
                <a:cs typeface="Calibri"/>
                <a:sym typeface="Calibri"/>
              </a:rPr>
              <a:t>GET /meta</a:t>
            </a:r>
            <a:endParaRPr/>
          </a:p>
        </p:txBody>
      </p:sp>
      <p:sp>
        <p:nvSpPr>
          <p:cNvPr id="274" name="Google Shape;274;p10"/>
          <p:cNvSpPr txBox="1"/>
          <p:nvPr/>
        </p:nvSpPr>
        <p:spPr>
          <a:xfrm>
            <a:off x="3794760" y="1965960"/>
            <a:ext cx="73152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00" u="none" cap="none" strike="noStrike">
                <a:solidFill>
                  <a:srgbClr val="111E33"/>
                </a:solidFill>
                <a:latin typeface="Calibri"/>
                <a:ea typeface="Calibri"/>
                <a:cs typeface="Calibri"/>
                <a:sym typeface="Calibri"/>
              </a:rPr>
              <a:t>Carte de prévision par zone (NYC Taxi)</a:t>
            </a:r>
            <a:endParaRPr/>
          </a:p>
        </p:txBody>
      </p:sp>
      <p:sp>
        <p:nvSpPr>
          <p:cNvPr id="275" name="Google Shape;275;p10"/>
          <p:cNvSpPr/>
          <p:nvPr/>
        </p:nvSpPr>
        <p:spPr>
          <a:xfrm>
            <a:off x="3794760" y="2560320"/>
            <a:ext cx="1600200" cy="731520"/>
          </a:xfrm>
          <a:prstGeom prst="roundRect">
            <a:avLst>
              <a:gd fmla="val 8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500" u="none" cap="none" strike="noStrike">
                <a:solidFill>
                  <a:srgbClr val="111E33"/>
                </a:solidFill>
                <a:latin typeface="Calibri"/>
                <a:ea typeface="Calibri"/>
                <a:cs typeface="Calibri"/>
                <a:sym typeface="Calibri"/>
              </a:rPr>
              <a:t>$76.22</a:t>
            </a:r>
            <a:endParaRPr/>
          </a:p>
          <a:p>
            <a:pPr indent="0" lvl="0" marL="0" marR="0" rtl="0" algn="ctr">
              <a:spcBef>
                <a:spcPts val="0"/>
              </a:spcBef>
              <a:spcAft>
                <a:spcPts val="0"/>
              </a:spcAft>
              <a:buNone/>
            </a:pPr>
            <a:r>
              <a:rPr b="1" i="0" lang="en-US" sz="1500" u="none" cap="none" strike="noStrike">
                <a:solidFill>
                  <a:srgbClr val="111E33"/>
                </a:solidFill>
                <a:latin typeface="Calibri"/>
                <a:ea typeface="Calibri"/>
                <a:cs typeface="Calibri"/>
                <a:sym typeface="Calibri"/>
              </a:rPr>
              <a:t>Moy. $/h</a:t>
            </a:r>
            <a:endParaRPr/>
          </a:p>
        </p:txBody>
      </p:sp>
      <p:sp>
        <p:nvSpPr>
          <p:cNvPr id="276" name="Google Shape;276;p10"/>
          <p:cNvSpPr/>
          <p:nvPr/>
        </p:nvSpPr>
        <p:spPr>
          <a:xfrm>
            <a:off x="5577840" y="2560320"/>
            <a:ext cx="1600200" cy="731520"/>
          </a:xfrm>
          <a:prstGeom prst="roundRect">
            <a:avLst>
              <a:gd fmla="val 8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500" u="none" cap="none" strike="noStrike">
                <a:solidFill>
                  <a:srgbClr val="111E33"/>
                </a:solidFill>
                <a:latin typeface="Calibri"/>
                <a:ea typeface="Calibri"/>
                <a:cs typeface="Calibri"/>
                <a:sym typeface="Calibri"/>
              </a:rPr>
              <a:t>23.7</a:t>
            </a:r>
            <a:endParaRPr/>
          </a:p>
          <a:p>
            <a:pPr indent="0" lvl="0" marL="0" marR="0" rtl="0" algn="ctr">
              <a:spcBef>
                <a:spcPts val="0"/>
              </a:spcBef>
              <a:spcAft>
                <a:spcPts val="0"/>
              </a:spcAft>
              <a:buNone/>
            </a:pPr>
            <a:r>
              <a:rPr b="1" i="0" lang="en-US" sz="1500" u="none" cap="none" strike="noStrike">
                <a:solidFill>
                  <a:srgbClr val="111E33"/>
                </a:solidFill>
                <a:latin typeface="Calibri"/>
                <a:ea typeface="Calibri"/>
                <a:cs typeface="Calibri"/>
                <a:sym typeface="Calibri"/>
              </a:rPr>
              <a:t>Demande moy.</a:t>
            </a:r>
            <a:endParaRPr/>
          </a:p>
        </p:txBody>
      </p:sp>
      <p:sp>
        <p:nvSpPr>
          <p:cNvPr id="277" name="Google Shape;277;p10"/>
          <p:cNvSpPr/>
          <p:nvPr/>
        </p:nvSpPr>
        <p:spPr>
          <a:xfrm>
            <a:off x="7360920" y="2560320"/>
            <a:ext cx="1600200" cy="731520"/>
          </a:xfrm>
          <a:prstGeom prst="roundRect">
            <a:avLst>
              <a:gd fmla="val 8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500" u="none" cap="none" strike="noStrike">
                <a:solidFill>
                  <a:srgbClr val="111E33"/>
                </a:solidFill>
                <a:latin typeface="Calibri"/>
                <a:ea typeface="Calibri"/>
                <a:cs typeface="Calibri"/>
                <a:sym typeface="Calibri"/>
              </a:rPr>
              <a:t>48.93</a:t>
            </a:r>
            <a:endParaRPr/>
          </a:p>
          <a:p>
            <a:pPr indent="0" lvl="0" marL="0" marR="0" rtl="0" algn="ctr">
              <a:spcBef>
                <a:spcPts val="0"/>
              </a:spcBef>
              <a:spcAft>
                <a:spcPts val="0"/>
              </a:spcAft>
              <a:buNone/>
            </a:pPr>
            <a:r>
              <a:rPr b="1" i="0" lang="en-US" sz="1500" u="none" cap="none" strike="noStrike">
                <a:solidFill>
                  <a:srgbClr val="111E33"/>
                </a:solidFill>
                <a:latin typeface="Calibri"/>
                <a:ea typeface="Calibri"/>
                <a:cs typeface="Calibri"/>
                <a:sym typeface="Calibri"/>
              </a:rPr>
              <a:t>Concurrence moy.</a:t>
            </a:r>
            <a:endParaRPr/>
          </a:p>
        </p:txBody>
      </p:sp>
      <p:sp>
        <p:nvSpPr>
          <p:cNvPr id="278" name="Google Shape;278;p10"/>
          <p:cNvSpPr/>
          <p:nvPr/>
        </p:nvSpPr>
        <p:spPr>
          <a:xfrm>
            <a:off x="9144000" y="2560320"/>
            <a:ext cx="1600200" cy="731520"/>
          </a:xfrm>
          <a:prstGeom prst="roundRect">
            <a:avLst>
              <a:gd fmla="val 8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500" u="none" cap="none" strike="noStrike">
                <a:solidFill>
                  <a:srgbClr val="111E33"/>
                </a:solidFill>
                <a:latin typeface="Calibri"/>
                <a:ea typeface="Calibri"/>
                <a:cs typeface="Calibri"/>
                <a:sym typeface="Calibri"/>
              </a:rPr>
              <a:t>0.28</a:t>
            </a:r>
            <a:endParaRPr/>
          </a:p>
          <a:p>
            <a:pPr indent="0" lvl="0" marL="0" marR="0" rtl="0" algn="ctr">
              <a:spcBef>
                <a:spcPts val="0"/>
              </a:spcBef>
              <a:spcAft>
                <a:spcPts val="0"/>
              </a:spcAft>
              <a:buNone/>
            </a:pPr>
            <a:r>
              <a:rPr b="1" i="0" lang="en-US" sz="1500" u="none" cap="none" strike="noStrike">
                <a:solidFill>
                  <a:srgbClr val="111E33"/>
                </a:solidFill>
                <a:latin typeface="Calibri"/>
                <a:ea typeface="Calibri"/>
                <a:cs typeface="Calibri"/>
                <a:sym typeface="Calibri"/>
              </a:rPr>
              <a:t>Opportunité moy.</a:t>
            </a:r>
            <a:endParaRPr/>
          </a:p>
        </p:txBody>
      </p:sp>
      <p:sp>
        <p:nvSpPr>
          <p:cNvPr id="279" name="Google Shape;279;p10"/>
          <p:cNvSpPr/>
          <p:nvPr/>
        </p:nvSpPr>
        <p:spPr>
          <a:xfrm>
            <a:off x="3794760" y="3474720"/>
            <a:ext cx="7315200" cy="1737360"/>
          </a:xfrm>
          <a:prstGeom prst="roundRect">
            <a:avLst>
              <a:gd fmla="val 8000" name="adj"/>
            </a:avLst>
          </a:prstGeom>
          <a:solidFill>
            <a:srgbClr val="E3EC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300" u="none" cap="none" strike="noStrike">
                <a:solidFill>
                  <a:srgbClr val="5A6372"/>
                </a:solidFill>
                <a:latin typeface="Calibri"/>
                <a:ea typeface="Calibri"/>
                <a:cs typeface="Calibri"/>
                <a:sym typeface="Calibri"/>
              </a:rPr>
              <a:t>Carte choroplèthe des zones NYC</a:t>
            </a:r>
            <a:endParaRPr/>
          </a:p>
          <a:p>
            <a:pPr indent="0" lvl="0" marL="0" marR="0" rtl="0" algn="ctr">
              <a:spcBef>
                <a:spcPts val="0"/>
              </a:spcBef>
              <a:spcAft>
                <a:spcPts val="0"/>
              </a:spcAft>
              <a:buNone/>
            </a:pPr>
            <a:r>
              <a:rPr b="0" i="0" lang="en-US" sz="1300" u="none" cap="none" strike="noStrike">
                <a:solidFill>
                  <a:srgbClr val="5A6372"/>
                </a:solidFill>
                <a:latin typeface="Calibri"/>
                <a:ea typeface="Calibri"/>
                <a:cs typeface="Calibri"/>
                <a:sym typeface="Calibri"/>
              </a:rPr>
              <a:t>(couleur = métrique sélectionnée, filtrable par heure)</a:t>
            </a:r>
            <a:endParaRPr/>
          </a:p>
        </p:txBody>
      </p:sp>
      <p:sp>
        <p:nvSpPr>
          <p:cNvPr id="280" name="Google Shape;280;p10"/>
          <p:cNvSpPr/>
          <p:nvPr/>
        </p:nvSpPr>
        <p:spPr>
          <a:xfrm>
            <a:off x="3794760" y="5349240"/>
            <a:ext cx="7315200" cy="594360"/>
          </a:xfrm>
          <a:prstGeom prst="roundRect">
            <a:avLst>
              <a:gd fmla="val 8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150" u="none" cap="none" strike="noStrike">
                <a:solidFill>
                  <a:srgbClr val="111E33"/>
                </a:solidFill>
                <a:latin typeface="Calibri"/>
                <a:ea typeface="Calibri"/>
                <a:cs typeface="Calibri"/>
                <a:sym typeface="Calibri"/>
              </a:rPr>
              <a:t>Tableau de classement des zones (triable, sous la carte)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1"/>
          <p:cNvSpPr txBox="1"/>
          <p:nvPr/>
        </p:nvSpPr>
        <p:spPr>
          <a:xfrm>
            <a:off x="548640" y="320040"/>
            <a:ext cx="86868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E8743B"/>
                </a:solidFill>
                <a:latin typeface="Calibri"/>
                <a:ea typeface="Calibri"/>
                <a:cs typeface="Calibri"/>
                <a:sym typeface="Calibri"/>
              </a:rPr>
              <a:t>7. DÉPLOIEMENT</a:t>
            </a:r>
            <a:endParaRPr/>
          </a:p>
        </p:txBody>
      </p:sp>
      <p:sp>
        <p:nvSpPr>
          <p:cNvPr id="286" name="Google Shape;286;p11"/>
          <p:cNvSpPr txBox="1"/>
          <p:nvPr/>
        </p:nvSpPr>
        <p:spPr>
          <a:xfrm>
            <a:off x="548640" y="621792"/>
            <a:ext cx="105156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u="none" cap="none" strike="noStrike">
                <a:solidFill>
                  <a:srgbClr val="111E33"/>
                </a:solidFill>
                <a:latin typeface="Calibri"/>
                <a:ea typeface="Calibri"/>
                <a:cs typeface="Calibri"/>
                <a:sym typeface="Calibri"/>
              </a:rPr>
              <a:t>Options de déploiement</a:t>
            </a:r>
            <a:endParaRPr/>
          </a:p>
        </p:txBody>
      </p:sp>
      <p:sp>
        <p:nvSpPr>
          <p:cNvPr id="287" name="Google Shape;287;p11"/>
          <p:cNvSpPr txBox="1"/>
          <p:nvPr/>
        </p:nvSpPr>
        <p:spPr>
          <a:xfrm>
            <a:off x="548640" y="1207008"/>
            <a:ext cx="105156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A6372"/>
                </a:solidFill>
                <a:latin typeface="Calibri"/>
                <a:ea typeface="Calibri"/>
                <a:cs typeface="Calibri"/>
                <a:sym typeface="Calibri"/>
              </a:rPr>
              <a:t>Le même pipeline, deux modes d'exécution</a:t>
            </a:r>
            <a:endParaRPr/>
          </a:p>
        </p:txBody>
      </p:sp>
      <p:sp>
        <p:nvSpPr>
          <p:cNvPr id="288" name="Google Shape;288;p11"/>
          <p:cNvSpPr/>
          <p:nvPr/>
        </p:nvSpPr>
        <p:spPr>
          <a:xfrm>
            <a:off x="548640" y="1481328"/>
            <a:ext cx="822960" cy="36576"/>
          </a:xfrm>
          <a:prstGeom prst="rect">
            <a:avLst/>
          </a:prstGeom>
          <a:solidFill>
            <a:srgbClr val="E874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9" name="Google Shape;289;p11"/>
          <p:cNvSpPr/>
          <p:nvPr/>
        </p:nvSpPr>
        <p:spPr>
          <a:xfrm>
            <a:off x="0" y="6537960"/>
            <a:ext cx="12191695" cy="91440"/>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0" name="Google Shape;290;p11"/>
          <p:cNvSpPr txBox="1"/>
          <p:nvPr/>
        </p:nvSpPr>
        <p:spPr>
          <a:xfrm>
            <a:off x="365760" y="6565392"/>
            <a:ext cx="54864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A6372"/>
                </a:solidFill>
                <a:latin typeface="Calibri"/>
                <a:ea typeface="Calibri"/>
                <a:cs typeface="Calibri"/>
                <a:sym typeface="Calibri"/>
              </a:rPr>
              <a:t>NYC Taxi Ride Demand &amp; Opportunity MLOps</a:t>
            </a:r>
            <a:endParaRPr/>
          </a:p>
        </p:txBody>
      </p:sp>
      <p:sp>
        <p:nvSpPr>
          <p:cNvPr id="291" name="Google Shape;291;p11"/>
          <p:cNvSpPr txBox="1"/>
          <p:nvPr/>
        </p:nvSpPr>
        <p:spPr>
          <a:xfrm>
            <a:off x="9994392" y="6565392"/>
            <a:ext cx="1828800"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A6372"/>
                </a:solidFill>
                <a:latin typeface="Calibri"/>
                <a:ea typeface="Calibri"/>
                <a:cs typeface="Calibri"/>
                <a:sym typeface="Calibri"/>
              </a:rPr>
              <a:t>11 / 17</a:t>
            </a:r>
            <a:endParaRPr/>
          </a:p>
        </p:txBody>
      </p:sp>
      <p:sp>
        <p:nvSpPr>
          <p:cNvPr id="292" name="Google Shape;292;p11"/>
          <p:cNvSpPr/>
          <p:nvPr/>
        </p:nvSpPr>
        <p:spPr>
          <a:xfrm>
            <a:off x="548640" y="1920240"/>
            <a:ext cx="5029200" cy="548640"/>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350" u="none" cap="none" strike="noStrike">
                <a:solidFill>
                  <a:srgbClr val="FFFFFF"/>
                </a:solidFill>
                <a:latin typeface="Calibri"/>
                <a:ea typeface="Calibri"/>
                <a:cs typeface="Calibri"/>
                <a:sym typeface="Calibri"/>
              </a:rPr>
              <a:t>Local  docker-compose.yml</a:t>
            </a:r>
            <a:endParaRPr/>
          </a:p>
        </p:txBody>
      </p:sp>
      <p:sp>
        <p:nvSpPr>
          <p:cNvPr id="293" name="Google Shape;293;p11"/>
          <p:cNvSpPr/>
          <p:nvPr/>
        </p:nvSpPr>
        <p:spPr>
          <a:xfrm>
            <a:off x="6309360" y="1920240"/>
            <a:ext cx="5303520" cy="548640"/>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350" u="none" cap="none" strike="noStrike">
                <a:solidFill>
                  <a:srgbClr val="FFFFFF"/>
                </a:solidFill>
                <a:latin typeface="Calibri"/>
                <a:ea typeface="Calibri"/>
                <a:cs typeface="Calibri"/>
                <a:sym typeface="Calibri"/>
              </a:rPr>
              <a:t>EC2  docker-compose.ec2.yml</a:t>
            </a:r>
            <a:endParaRPr/>
          </a:p>
        </p:txBody>
      </p:sp>
      <p:sp>
        <p:nvSpPr>
          <p:cNvPr id="294" name="Google Shape;294;p11"/>
          <p:cNvSpPr txBox="1"/>
          <p:nvPr/>
        </p:nvSpPr>
        <p:spPr>
          <a:xfrm>
            <a:off x="548640" y="2697480"/>
            <a:ext cx="5029200" cy="2011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50" u="none" cap="none" strike="noStrike">
                <a:solidFill>
                  <a:srgbClr val="111E33"/>
                </a:solidFill>
                <a:latin typeface="Calibri"/>
                <a:ea typeface="Calibri"/>
                <a:cs typeface="Calibri"/>
                <a:sym typeface="Calibri"/>
              </a:rPr>
              <a:t>•  Docker Compose : Airflow (webserver, scheduler, worker, triggerer), MLflow, Postgres, FastAPI</a:t>
            </a:r>
            <a:endParaRPr/>
          </a:p>
          <a:p>
            <a:pPr indent="0" lvl="0" marL="0" marR="0" rtl="0" algn="l">
              <a:spcBef>
                <a:spcPts val="0"/>
              </a:spcBef>
              <a:spcAft>
                <a:spcPts val="0"/>
              </a:spcAft>
              <a:buNone/>
            </a:pPr>
            <a:r>
              <a:t/>
            </a:r>
            <a:endParaRPr b="0" i="0" sz="1250" u="none" cap="none" strike="noStrike">
              <a:solidFill>
                <a:srgbClr val="111E33"/>
              </a:solidFill>
              <a:latin typeface="Calibri"/>
              <a:ea typeface="Calibri"/>
              <a:cs typeface="Calibri"/>
              <a:sym typeface="Calibri"/>
            </a:endParaRPr>
          </a:p>
          <a:p>
            <a:pPr indent="0" lvl="0" marL="0" marR="0" rtl="0" algn="l">
              <a:spcBef>
                <a:spcPts val="0"/>
              </a:spcBef>
              <a:spcAft>
                <a:spcPts val="0"/>
              </a:spcAft>
              <a:buNone/>
            </a:pPr>
            <a:r>
              <a:rPr b="0" i="0" lang="en-US" sz="1250" u="none" cap="none" strike="noStrike">
                <a:solidFill>
                  <a:srgbClr val="111E33"/>
                </a:solidFill>
                <a:latin typeface="Calibri"/>
                <a:ea typeface="Calibri"/>
                <a:cs typeface="Calibri"/>
                <a:sym typeface="Calibri"/>
              </a:rPr>
              <a:t>•  Identifiants AWS via .env (pas de rôle IAM sur votre machine)</a:t>
            </a:r>
            <a:endParaRPr/>
          </a:p>
          <a:p>
            <a:pPr indent="0" lvl="0" marL="0" marR="0" rtl="0" algn="l">
              <a:spcBef>
                <a:spcPts val="0"/>
              </a:spcBef>
              <a:spcAft>
                <a:spcPts val="0"/>
              </a:spcAft>
              <a:buNone/>
            </a:pPr>
            <a:r>
              <a:t/>
            </a:r>
            <a:endParaRPr b="0" i="0" sz="1250" u="none" cap="none" strike="noStrike">
              <a:solidFill>
                <a:srgbClr val="111E33"/>
              </a:solidFill>
              <a:latin typeface="Calibri"/>
              <a:ea typeface="Calibri"/>
              <a:cs typeface="Calibri"/>
              <a:sym typeface="Calibri"/>
            </a:endParaRPr>
          </a:p>
          <a:p>
            <a:pPr indent="0" lvl="0" marL="0" marR="0" rtl="0" algn="l">
              <a:spcBef>
                <a:spcPts val="0"/>
              </a:spcBef>
              <a:spcAft>
                <a:spcPts val="0"/>
              </a:spcAft>
              <a:buNone/>
            </a:pPr>
            <a:r>
              <a:rPr b="0" i="0" lang="en-US" sz="1250" u="none" cap="none" strike="noStrike">
                <a:solidFill>
                  <a:srgbClr val="111E33"/>
                </a:solidFill>
                <a:latin typeface="Calibri"/>
                <a:ea typeface="Calibri"/>
                <a:cs typeface="Calibri"/>
                <a:sym typeface="Calibri"/>
              </a:rPr>
              <a:t>•  DAGs déclenchés manuellement depuis l'UI Airflow sur le port :8080</a:t>
            </a:r>
            <a:endParaRPr/>
          </a:p>
        </p:txBody>
      </p:sp>
      <p:sp>
        <p:nvSpPr>
          <p:cNvPr id="295" name="Google Shape;295;p11"/>
          <p:cNvSpPr txBox="1"/>
          <p:nvPr/>
        </p:nvSpPr>
        <p:spPr>
          <a:xfrm>
            <a:off x="6309360" y="2697480"/>
            <a:ext cx="5303520" cy="2011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50" u="none" cap="none" strike="noStrike">
                <a:solidFill>
                  <a:srgbClr val="111E33"/>
                </a:solidFill>
                <a:latin typeface="Calibri"/>
                <a:ea typeface="Calibri"/>
                <a:cs typeface="Calibri"/>
                <a:sym typeface="Calibri"/>
              </a:rPr>
              <a:t>•  Une seule instance EC2, rôle IAM pour S3 + permissions d'arrêt EC2</a:t>
            </a:r>
            <a:endParaRPr/>
          </a:p>
          <a:p>
            <a:pPr indent="0" lvl="0" marL="0" marR="0" rtl="0" algn="l">
              <a:spcBef>
                <a:spcPts val="0"/>
              </a:spcBef>
              <a:spcAft>
                <a:spcPts val="0"/>
              </a:spcAft>
              <a:buNone/>
            </a:pPr>
            <a:r>
              <a:t/>
            </a:r>
            <a:endParaRPr b="0" i="0" sz="1250" u="none" cap="none" strike="noStrike">
              <a:solidFill>
                <a:srgbClr val="111E33"/>
              </a:solidFill>
              <a:latin typeface="Calibri"/>
              <a:ea typeface="Calibri"/>
              <a:cs typeface="Calibri"/>
              <a:sym typeface="Calibri"/>
            </a:endParaRPr>
          </a:p>
          <a:p>
            <a:pPr indent="0" lvl="0" marL="0" marR="0" rtl="0" algn="l">
              <a:spcBef>
                <a:spcPts val="0"/>
              </a:spcBef>
              <a:spcAft>
                <a:spcPts val="0"/>
              </a:spcAft>
              <a:buNone/>
            </a:pPr>
            <a:r>
              <a:rPr b="0" i="0" lang="en-US" sz="1250" u="none" cap="none" strike="noStrike">
                <a:solidFill>
                  <a:srgbClr val="111E33"/>
                </a:solidFill>
                <a:latin typeface="Calibri"/>
                <a:ea typeface="Calibri"/>
                <a:cs typeface="Calibri"/>
                <a:sym typeface="Calibri"/>
              </a:rPr>
              <a:t>•  Ports liés à localhost uniquement (accès via tunnel SSH)</a:t>
            </a:r>
            <a:endParaRPr/>
          </a:p>
          <a:p>
            <a:pPr indent="0" lvl="0" marL="0" marR="0" rtl="0" algn="l">
              <a:spcBef>
                <a:spcPts val="0"/>
              </a:spcBef>
              <a:spcAft>
                <a:spcPts val="0"/>
              </a:spcAft>
              <a:buNone/>
            </a:pPr>
            <a:r>
              <a:t/>
            </a:r>
            <a:endParaRPr b="0" i="0" sz="1250" u="none" cap="none" strike="noStrike">
              <a:solidFill>
                <a:srgbClr val="111E33"/>
              </a:solidFill>
              <a:latin typeface="Calibri"/>
              <a:ea typeface="Calibri"/>
              <a:cs typeface="Calibri"/>
              <a:sym typeface="Calibri"/>
            </a:endParaRPr>
          </a:p>
          <a:p>
            <a:pPr indent="0" lvl="0" marL="0" marR="0" rtl="0" algn="l">
              <a:spcBef>
                <a:spcPts val="0"/>
              </a:spcBef>
              <a:spcAft>
                <a:spcPts val="0"/>
              </a:spcAft>
              <a:buNone/>
            </a:pPr>
            <a:r>
              <a:rPr b="0" i="0" lang="en-US" sz="1250" u="none" cap="none" strike="noStrike">
                <a:solidFill>
                  <a:srgbClr val="111E33"/>
                </a:solidFill>
                <a:latin typeface="Calibri"/>
                <a:ea typeface="Calibri"/>
                <a:cs typeface="Calibri"/>
                <a:sym typeface="Calibri"/>
              </a:rPr>
              <a:t>•  L'ingestion déclenche automatiquement l'entraînement, qui arrête l'instance une fois terminé ; MLflow tourne désormais sur un Space HF privé (voir diapositive suivante)</a:t>
            </a:r>
            <a:endParaRPr/>
          </a:p>
        </p:txBody>
      </p:sp>
      <p:sp>
        <p:nvSpPr>
          <p:cNvPr id="296" name="Google Shape;296;p11"/>
          <p:cNvSpPr/>
          <p:nvPr/>
        </p:nvSpPr>
        <p:spPr>
          <a:xfrm>
            <a:off x="6080760" y="1920240"/>
            <a:ext cx="18288" cy="2834640"/>
          </a:xfrm>
          <a:prstGeom prst="rect">
            <a:avLst/>
          </a:prstGeom>
          <a:solidFill>
            <a:srgbClr val="C9D3E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7" name="Google Shape;297;p11"/>
          <p:cNvSpPr/>
          <p:nvPr/>
        </p:nvSpPr>
        <p:spPr>
          <a:xfrm>
            <a:off x="548640" y="5074920"/>
            <a:ext cx="10881360" cy="914400"/>
          </a:xfrm>
          <a:prstGeom prst="roundRect">
            <a:avLst>
              <a:gd fmla="val 8000" name="adj"/>
            </a:avLst>
          </a:prstGeom>
          <a:solidFill>
            <a:srgbClr val="FFFFFF"/>
          </a:solidFill>
          <a:ln cap="flat" cmpd="sng" w="12700">
            <a:solidFill>
              <a:srgbClr val="2E5CB8"/>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250" u="none" cap="none" strike="noStrike">
                <a:solidFill>
                  <a:srgbClr val="111E33"/>
                </a:solidFill>
                <a:latin typeface="Calibri"/>
                <a:ea typeface="Calibri"/>
                <a:cs typeface="Calibri"/>
                <a:sym typeface="Calibri"/>
              </a:rPr>
              <a:t>Les deux modes lisent leur configuration depuis un fichier .env (copié depuis .env.example)  S3_BUCKET, AWS_REGION, MLFLOW_TRACKING_URI, OPTUNA_N_TRIALS,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2"/>
          <p:cNvSpPr txBox="1"/>
          <p:nvPr/>
        </p:nvSpPr>
        <p:spPr>
          <a:xfrm>
            <a:off x="548640" y="320040"/>
            <a:ext cx="86868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E8743B"/>
                </a:solidFill>
                <a:latin typeface="Calibri"/>
                <a:ea typeface="Calibri"/>
                <a:cs typeface="Calibri"/>
                <a:sym typeface="Calibri"/>
              </a:rPr>
              <a:t>7. DÉPLOIEMENT</a:t>
            </a:r>
            <a:endParaRPr/>
          </a:p>
        </p:txBody>
      </p:sp>
      <p:sp>
        <p:nvSpPr>
          <p:cNvPr id="303" name="Google Shape;303;p12"/>
          <p:cNvSpPr txBox="1"/>
          <p:nvPr/>
        </p:nvSpPr>
        <p:spPr>
          <a:xfrm>
            <a:off x="548640" y="621792"/>
            <a:ext cx="105156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u="none" cap="none" strike="noStrike">
                <a:solidFill>
                  <a:srgbClr val="111E33"/>
                </a:solidFill>
                <a:latin typeface="Calibri"/>
                <a:ea typeface="Calibri"/>
                <a:cs typeface="Calibri"/>
                <a:sym typeface="Calibri"/>
              </a:rPr>
              <a:t>Cycle de vie automatisé EC2</a:t>
            </a:r>
            <a:endParaRPr/>
          </a:p>
        </p:txBody>
      </p:sp>
      <p:sp>
        <p:nvSpPr>
          <p:cNvPr id="304" name="Google Shape;304;p12"/>
          <p:cNvSpPr txBox="1"/>
          <p:nvPr/>
        </p:nvSpPr>
        <p:spPr>
          <a:xfrm>
            <a:off x="548640" y="1207008"/>
            <a:ext cx="10515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A6372"/>
                </a:solidFill>
                <a:latin typeface="Calibri"/>
                <a:ea typeface="Calibri"/>
                <a:cs typeface="Calibri"/>
                <a:sym typeface="Calibri"/>
              </a:rPr>
              <a:t>Lambda + EventBridge  planifié, auto-arrêt, faible coût</a:t>
            </a:r>
            <a:endParaRPr/>
          </a:p>
        </p:txBody>
      </p:sp>
      <p:sp>
        <p:nvSpPr>
          <p:cNvPr id="305" name="Google Shape;305;p12"/>
          <p:cNvSpPr/>
          <p:nvPr/>
        </p:nvSpPr>
        <p:spPr>
          <a:xfrm>
            <a:off x="548640" y="1481328"/>
            <a:ext cx="822960" cy="36576"/>
          </a:xfrm>
          <a:prstGeom prst="rect">
            <a:avLst/>
          </a:prstGeom>
          <a:solidFill>
            <a:srgbClr val="E874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6" name="Google Shape;306;p12"/>
          <p:cNvSpPr/>
          <p:nvPr/>
        </p:nvSpPr>
        <p:spPr>
          <a:xfrm>
            <a:off x="0" y="6537960"/>
            <a:ext cx="12191695" cy="91440"/>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12"/>
          <p:cNvSpPr txBox="1"/>
          <p:nvPr/>
        </p:nvSpPr>
        <p:spPr>
          <a:xfrm>
            <a:off x="365760" y="6565392"/>
            <a:ext cx="54864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A6372"/>
                </a:solidFill>
                <a:latin typeface="Calibri"/>
                <a:ea typeface="Calibri"/>
                <a:cs typeface="Calibri"/>
                <a:sym typeface="Calibri"/>
              </a:rPr>
              <a:t>NYC Taxi Ride Demand &amp; Opportunity MLOps</a:t>
            </a:r>
            <a:endParaRPr/>
          </a:p>
        </p:txBody>
      </p:sp>
      <p:sp>
        <p:nvSpPr>
          <p:cNvPr id="308" name="Google Shape;308;p12"/>
          <p:cNvSpPr txBox="1"/>
          <p:nvPr/>
        </p:nvSpPr>
        <p:spPr>
          <a:xfrm>
            <a:off x="9994392" y="6565392"/>
            <a:ext cx="1828800"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A6372"/>
                </a:solidFill>
                <a:latin typeface="Calibri"/>
                <a:ea typeface="Calibri"/>
                <a:cs typeface="Calibri"/>
                <a:sym typeface="Calibri"/>
              </a:rPr>
              <a:t>12 / 17</a:t>
            </a:r>
            <a:endParaRPr/>
          </a:p>
        </p:txBody>
      </p:sp>
      <p:sp>
        <p:nvSpPr>
          <p:cNvPr id="309" name="Google Shape;309;p12"/>
          <p:cNvSpPr/>
          <p:nvPr/>
        </p:nvSpPr>
        <p:spPr>
          <a:xfrm>
            <a:off x="548640" y="2011680"/>
            <a:ext cx="2011680" cy="1188720"/>
          </a:xfrm>
          <a:prstGeom prst="roundRect">
            <a:avLst>
              <a:gd fmla="val 8000" name="adj"/>
            </a:avLst>
          </a:prstGeom>
          <a:solidFill>
            <a:srgbClr val="F4F5F7"/>
          </a:solidFill>
          <a:ln cap="flat" cmpd="sng" w="12700">
            <a:solidFill>
              <a:srgbClr val="2E5CB8"/>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100" u="none" cap="none" strike="noStrike">
                <a:solidFill>
                  <a:srgbClr val="111E33"/>
                </a:solidFill>
                <a:latin typeface="Calibri"/>
                <a:ea typeface="Calibri"/>
                <a:cs typeface="Calibri"/>
                <a:sym typeface="Calibri"/>
              </a:rPr>
              <a:t>EventBridge cron(0 6 1 * ? *)</a:t>
            </a:r>
            <a:endParaRPr/>
          </a:p>
          <a:p>
            <a:pPr indent="0" lvl="0" marL="0" marR="0" rtl="0" algn="ctr">
              <a:spcBef>
                <a:spcPts val="0"/>
              </a:spcBef>
              <a:spcAft>
                <a:spcPts val="0"/>
              </a:spcAft>
              <a:buNone/>
            </a:pPr>
            <a:r>
              <a:rPr b="0" i="0" lang="en-US" sz="1100" u="none" cap="none" strike="noStrike">
                <a:solidFill>
                  <a:srgbClr val="111E33"/>
                </a:solidFill>
                <a:latin typeface="Calibri"/>
                <a:ea typeface="Calibri"/>
                <a:cs typeface="Calibri"/>
                <a:sym typeface="Calibri"/>
              </a:rPr>
              <a:t>1er du mois, 06:00 UTC</a:t>
            </a:r>
            <a:endParaRPr/>
          </a:p>
        </p:txBody>
      </p:sp>
      <p:cxnSp>
        <p:nvCxnSpPr>
          <p:cNvPr id="310" name="Google Shape;310;p12"/>
          <p:cNvCxnSpPr/>
          <p:nvPr/>
        </p:nvCxnSpPr>
        <p:spPr>
          <a:xfrm>
            <a:off x="2560320" y="2606040"/>
            <a:ext cx="91440" cy="0"/>
          </a:xfrm>
          <a:prstGeom prst="straightConnector1">
            <a:avLst/>
          </a:prstGeom>
          <a:noFill/>
          <a:ln cap="flat" cmpd="sng" w="22225">
            <a:solidFill>
              <a:srgbClr val="2E5CB8"/>
            </a:solidFill>
            <a:prstDash val="solid"/>
            <a:round/>
            <a:headEnd len="sm" w="sm" type="none"/>
            <a:tailEnd len="med" w="med" type="triangle"/>
          </a:ln>
          <a:effectLst>
            <a:outerShdw blurRad="40000" rotWithShape="0" dir="5400000" dist="20000">
              <a:srgbClr val="000000">
                <a:alpha val="38039"/>
              </a:srgbClr>
            </a:outerShdw>
          </a:effectLst>
        </p:spPr>
      </p:cxnSp>
      <p:sp>
        <p:nvSpPr>
          <p:cNvPr id="311" name="Google Shape;311;p12"/>
          <p:cNvSpPr/>
          <p:nvPr/>
        </p:nvSpPr>
        <p:spPr>
          <a:xfrm>
            <a:off x="2651760" y="2011680"/>
            <a:ext cx="2011680" cy="1188720"/>
          </a:xfrm>
          <a:prstGeom prst="roundRect">
            <a:avLst>
              <a:gd fmla="val 8000" name="adj"/>
            </a:avLst>
          </a:prstGeom>
          <a:solidFill>
            <a:srgbClr val="F4F5F7"/>
          </a:solidFill>
          <a:ln cap="flat" cmpd="sng" w="12700">
            <a:solidFill>
              <a:srgbClr val="2E5CB8"/>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100" u="none" cap="none" strike="noStrike">
                <a:solidFill>
                  <a:srgbClr val="111E33"/>
                </a:solidFill>
                <a:latin typeface="Calibri"/>
                <a:ea typeface="Calibri"/>
                <a:cs typeface="Calibri"/>
                <a:sym typeface="Calibri"/>
              </a:rPr>
              <a:t>Lambda : nyc-taxi-start-ec2</a:t>
            </a:r>
            <a:endParaRPr/>
          </a:p>
          <a:p>
            <a:pPr indent="0" lvl="0" marL="0" marR="0" rtl="0" algn="ctr">
              <a:spcBef>
                <a:spcPts val="0"/>
              </a:spcBef>
              <a:spcAft>
                <a:spcPts val="0"/>
              </a:spcAft>
              <a:buNone/>
            </a:pPr>
            <a:r>
              <a:rPr b="0" i="0" lang="en-US" sz="1100" u="none" cap="none" strike="noStrike">
                <a:solidFill>
                  <a:srgbClr val="111E33"/>
                </a:solidFill>
                <a:latin typeface="Calibri"/>
                <a:ea typeface="Calibri"/>
                <a:cs typeface="Calibri"/>
                <a:sym typeface="Calibri"/>
              </a:rPr>
              <a:t>démarre l'instance EC2</a:t>
            </a:r>
            <a:endParaRPr/>
          </a:p>
        </p:txBody>
      </p:sp>
      <p:cxnSp>
        <p:nvCxnSpPr>
          <p:cNvPr id="312" name="Google Shape;312;p12"/>
          <p:cNvCxnSpPr/>
          <p:nvPr/>
        </p:nvCxnSpPr>
        <p:spPr>
          <a:xfrm>
            <a:off x="4663440" y="2606040"/>
            <a:ext cx="91440" cy="0"/>
          </a:xfrm>
          <a:prstGeom prst="straightConnector1">
            <a:avLst/>
          </a:prstGeom>
          <a:noFill/>
          <a:ln cap="flat" cmpd="sng" w="22225">
            <a:solidFill>
              <a:srgbClr val="2E5CB8"/>
            </a:solidFill>
            <a:prstDash val="solid"/>
            <a:round/>
            <a:headEnd len="sm" w="sm" type="none"/>
            <a:tailEnd len="med" w="med" type="triangle"/>
          </a:ln>
          <a:effectLst>
            <a:outerShdw blurRad="40000" rotWithShape="0" dir="5400000" dist="20000">
              <a:srgbClr val="000000">
                <a:alpha val="38039"/>
              </a:srgbClr>
            </a:outerShdw>
          </a:effectLst>
        </p:spPr>
      </p:cxnSp>
      <p:sp>
        <p:nvSpPr>
          <p:cNvPr id="313" name="Google Shape;313;p12"/>
          <p:cNvSpPr/>
          <p:nvPr/>
        </p:nvSpPr>
        <p:spPr>
          <a:xfrm>
            <a:off x="4754880" y="2011680"/>
            <a:ext cx="2011680" cy="1188720"/>
          </a:xfrm>
          <a:prstGeom prst="roundRect">
            <a:avLst>
              <a:gd fmla="val 8000" name="adj"/>
            </a:avLst>
          </a:prstGeom>
          <a:solidFill>
            <a:srgbClr val="F4F5F7"/>
          </a:solidFill>
          <a:ln cap="flat" cmpd="sng" w="12700">
            <a:solidFill>
              <a:srgbClr val="2E5CB8"/>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100" u="none" cap="none" strike="noStrike">
                <a:solidFill>
                  <a:srgbClr val="111E33"/>
                </a:solidFill>
                <a:latin typeface="Calibri"/>
                <a:ea typeface="Calibri"/>
                <a:cs typeface="Calibri"/>
                <a:sym typeface="Calibri"/>
              </a:rPr>
              <a:t>systemd démarre la</a:t>
            </a:r>
            <a:endParaRPr/>
          </a:p>
          <a:p>
            <a:pPr indent="0" lvl="0" marL="0" marR="0" rtl="0" algn="ctr">
              <a:spcBef>
                <a:spcPts val="0"/>
              </a:spcBef>
              <a:spcAft>
                <a:spcPts val="0"/>
              </a:spcAft>
              <a:buNone/>
            </a:pPr>
            <a:r>
              <a:rPr b="0" i="0" lang="en-US" sz="1100" u="none" cap="none" strike="noStrike">
                <a:solidFill>
                  <a:srgbClr val="111E33"/>
                </a:solidFill>
                <a:latin typeface="Calibri"/>
                <a:ea typeface="Calibri"/>
                <a:cs typeface="Calibri"/>
                <a:sym typeface="Calibri"/>
              </a:rPr>
              <a:t>stack Docker Compose</a:t>
            </a:r>
            <a:endParaRPr/>
          </a:p>
        </p:txBody>
      </p:sp>
      <p:cxnSp>
        <p:nvCxnSpPr>
          <p:cNvPr id="314" name="Google Shape;314;p12"/>
          <p:cNvCxnSpPr/>
          <p:nvPr/>
        </p:nvCxnSpPr>
        <p:spPr>
          <a:xfrm>
            <a:off x="6766560" y="2606040"/>
            <a:ext cx="91440" cy="0"/>
          </a:xfrm>
          <a:prstGeom prst="straightConnector1">
            <a:avLst/>
          </a:prstGeom>
          <a:noFill/>
          <a:ln cap="flat" cmpd="sng" w="22225">
            <a:solidFill>
              <a:srgbClr val="2E5CB8"/>
            </a:solidFill>
            <a:prstDash val="solid"/>
            <a:round/>
            <a:headEnd len="sm" w="sm" type="none"/>
            <a:tailEnd len="med" w="med" type="triangle"/>
          </a:ln>
          <a:effectLst>
            <a:outerShdw blurRad="40000" rotWithShape="0" dir="5400000" dist="20000">
              <a:srgbClr val="000000">
                <a:alpha val="38039"/>
              </a:srgbClr>
            </a:outerShdw>
          </a:effectLst>
        </p:spPr>
      </p:cxnSp>
      <p:sp>
        <p:nvSpPr>
          <p:cNvPr id="315" name="Google Shape;315;p12"/>
          <p:cNvSpPr/>
          <p:nvPr/>
        </p:nvSpPr>
        <p:spPr>
          <a:xfrm>
            <a:off x="6858000" y="2011680"/>
            <a:ext cx="2011680" cy="1188720"/>
          </a:xfrm>
          <a:prstGeom prst="roundRect">
            <a:avLst>
              <a:gd fmla="val 8000" name="adj"/>
            </a:avLst>
          </a:prstGeom>
          <a:solidFill>
            <a:srgbClr val="F4F5F7"/>
          </a:solidFill>
          <a:ln cap="flat" cmpd="sng" w="12700">
            <a:solidFill>
              <a:srgbClr val="2E5CB8"/>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100" u="none" cap="none" strike="noStrike">
                <a:solidFill>
                  <a:srgbClr val="111E33"/>
                </a:solidFill>
                <a:latin typeface="Calibri"/>
                <a:ea typeface="Calibri"/>
                <a:cs typeface="Calibri"/>
                <a:sym typeface="Calibri"/>
              </a:rPr>
              <a:t>Airflow : le DAG d'ingestion s'exécute</a:t>
            </a:r>
            <a:endParaRPr/>
          </a:p>
          <a:p>
            <a:pPr indent="0" lvl="0" marL="0" marR="0" rtl="0" algn="ctr">
              <a:spcBef>
                <a:spcPts val="0"/>
              </a:spcBef>
              <a:spcAft>
                <a:spcPts val="0"/>
              </a:spcAft>
              <a:buNone/>
            </a:pPr>
            <a:r>
              <a:rPr b="0" i="0" lang="en-US" sz="1100" u="none" cap="none" strike="noStrike">
                <a:solidFill>
                  <a:srgbClr val="111E33"/>
                </a:solidFill>
                <a:latin typeface="Calibri"/>
                <a:ea typeface="Calibri"/>
                <a:cs typeface="Calibri"/>
                <a:sym typeface="Calibri"/>
              </a:rPr>
              <a:t>→ déclenche automatiquement le DAG d'entraînement</a:t>
            </a:r>
            <a:endParaRPr/>
          </a:p>
        </p:txBody>
      </p:sp>
      <p:cxnSp>
        <p:nvCxnSpPr>
          <p:cNvPr id="316" name="Google Shape;316;p12"/>
          <p:cNvCxnSpPr/>
          <p:nvPr/>
        </p:nvCxnSpPr>
        <p:spPr>
          <a:xfrm>
            <a:off x="8869680" y="2606040"/>
            <a:ext cx="91439" cy="0"/>
          </a:xfrm>
          <a:prstGeom prst="straightConnector1">
            <a:avLst/>
          </a:prstGeom>
          <a:noFill/>
          <a:ln cap="flat" cmpd="sng" w="22225">
            <a:solidFill>
              <a:srgbClr val="2E5CB8"/>
            </a:solidFill>
            <a:prstDash val="solid"/>
            <a:round/>
            <a:headEnd len="sm" w="sm" type="none"/>
            <a:tailEnd len="med" w="med" type="triangle"/>
          </a:ln>
          <a:effectLst>
            <a:outerShdw blurRad="40000" rotWithShape="0" dir="5400000" dist="20000">
              <a:srgbClr val="000000">
                <a:alpha val="38039"/>
              </a:srgbClr>
            </a:outerShdw>
          </a:effectLst>
        </p:spPr>
      </p:cxnSp>
      <p:sp>
        <p:nvSpPr>
          <p:cNvPr id="317" name="Google Shape;317;p12"/>
          <p:cNvSpPr/>
          <p:nvPr/>
        </p:nvSpPr>
        <p:spPr>
          <a:xfrm>
            <a:off x="8961120" y="2011680"/>
            <a:ext cx="2011680" cy="1188720"/>
          </a:xfrm>
          <a:prstGeom prst="roundRect">
            <a:avLst>
              <a:gd fmla="val 8000" name="adj"/>
            </a:avLst>
          </a:prstGeom>
          <a:solidFill>
            <a:srgbClr val="F4F5F7"/>
          </a:solidFill>
          <a:ln cap="flat" cmpd="sng" w="12700">
            <a:solidFill>
              <a:srgbClr val="2E5CB8"/>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100" u="none" cap="none" strike="noStrike">
                <a:solidFill>
                  <a:srgbClr val="111E33"/>
                </a:solidFill>
                <a:latin typeface="Calibri"/>
                <a:ea typeface="Calibri"/>
                <a:cs typeface="Calibri"/>
                <a:sym typeface="Calibri"/>
              </a:rPr>
              <a:t>train → forecast →</a:t>
            </a:r>
            <a:endParaRPr/>
          </a:p>
          <a:p>
            <a:pPr indent="0" lvl="0" marL="0" marR="0" rtl="0" algn="ctr">
              <a:spcBef>
                <a:spcPts val="0"/>
              </a:spcBef>
              <a:spcAft>
                <a:spcPts val="0"/>
              </a:spcAft>
              <a:buNone/>
            </a:pPr>
            <a:r>
              <a:rPr b="0" i="0" lang="en-US" sz="1100" u="none" cap="none" strike="noStrike">
                <a:solidFill>
                  <a:srgbClr val="111E33"/>
                </a:solidFill>
                <a:latin typeface="Calibri"/>
                <a:ea typeface="Calibri"/>
                <a:cs typeface="Calibri"/>
                <a:sym typeface="Calibri"/>
              </a:rPr>
              <a:t>l'EC2 s'arrête elle-même (rôle IAM)</a:t>
            </a:r>
            <a:endParaRPr/>
          </a:p>
        </p:txBody>
      </p:sp>
      <p:sp>
        <p:nvSpPr>
          <p:cNvPr id="318" name="Google Shape;318;p12"/>
          <p:cNvSpPr/>
          <p:nvPr/>
        </p:nvSpPr>
        <p:spPr>
          <a:xfrm>
            <a:off x="3200400" y="3703320"/>
            <a:ext cx="5760720" cy="822960"/>
          </a:xfrm>
          <a:prstGeom prst="roundRect">
            <a:avLst>
              <a:gd fmla="val 8000" name="adj"/>
            </a:avLst>
          </a:prstGeom>
          <a:solidFill>
            <a:srgbClr val="FFFFFF"/>
          </a:solidFill>
          <a:ln cap="flat" cmpd="sng" w="12700">
            <a:solidFill>
              <a:srgbClr val="5A6372"/>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150" u="none" cap="none" strike="noStrike">
                <a:solidFill>
                  <a:srgbClr val="111E33"/>
                </a:solidFill>
                <a:latin typeface="Calibri"/>
                <a:ea typeface="Calibri"/>
                <a:cs typeface="Calibri"/>
                <a:sym typeface="Calibri"/>
              </a:rPr>
              <a:t>Filet de sécurité : EventBridge cron(0 14 1 * ? *)</a:t>
            </a:r>
            <a:endParaRPr/>
          </a:p>
          <a:p>
            <a:pPr indent="0" lvl="0" marL="0" marR="0" rtl="0" algn="ctr">
              <a:spcBef>
                <a:spcPts val="0"/>
              </a:spcBef>
              <a:spcAft>
                <a:spcPts val="0"/>
              </a:spcAft>
              <a:buNone/>
            </a:pPr>
            <a:r>
              <a:rPr b="0" i="0" lang="en-US" sz="1150" u="none" cap="none" strike="noStrike">
                <a:solidFill>
                  <a:srgbClr val="111E33"/>
                </a:solidFill>
                <a:latin typeface="Calibri"/>
                <a:ea typeface="Calibri"/>
                <a:cs typeface="Calibri"/>
                <a:sym typeface="Calibri"/>
              </a:rPr>
              <a:t>La Lambda nyc-taxi-stop-ec2 force l'arrêt si l'instance tourne encore</a:t>
            </a:r>
            <a:endParaRPr/>
          </a:p>
        </p:txBody>
      </p:sp>
      <p:cxnSp>
        <p:nvCxnSpPr>
          <p:cNvPr id="319" name="Google Shape;319;p12"/>
          <p:cNvCxnSpPr>
            <a:endCxn id="318" idx="3"/>
          </p:cNvCxnSpPr>
          <p:nvPr/>
        </p:nvCxnSpPr>
        <p:spPr>
          <a:xfrm flipH="1">
            <a:off x="8961120" y="3200400"/>
            <a:ext cx="1005900" cy="914400"/>
          </a:xfrm>
          <a:prstGeom prst="straightConnector1">
            <a:avLst/>
          </a:prstGeom>
          <a:noFill/>
          <a:ln cap="flat" cmpd="sng" w="22225">
            <a:solidFill>
              <a:srgbClr val="5A6372"/>
            </a:solidFill>
            <a:prstDash val="dash"/>
            <a:round/>
            <a:headEnd len="sm" w="sm" type="none"/>
            <a:tailEnd len="med" w="med" type="triangle"/>
          </a:ln>
          <a:effectLst>
            <a:outerShdw blurRad="40000" rotWithShape="0" dir="5400000" dist="20000">
              <a:srgbClr val="000000">
                <a:alpha val="38039"/>
              </a:srgbClr>
            </a:outerShdw>
          </a:effectLst>
        </p:spPr>
      </p:cxnSp>
      <p:cxnSp>
        <p:nvCxnSpPr>
          <p:cNvPr id="320" name="Google Shape;320;p12"/>
          <p:cNvCxnSpPr/>
          <p:nvPr/>
        </p:nvCxnSpPr>
        <p:spPr>
          <a:xfrm rot="10800000">
            <a:off x="1554480" y="3200400"/>
            <a:ext cx="1645920" cy="914400"/>
          </a:xfrm>
          <a:prstGeom prst="straightConnector1">
            <a:avLst/>
          </a:prstGeom>
          <a:noFill/>
          <a:ln cap="flat" cmpd="sng" w="22225">
            <a:solidFill>
              <a:srgbClr val="5A6372"/>
            </a:solidFill>
            <a:prstDash val="dash"/>
            <a:round/>
            <a:headEnd len="sm" w="sm" type="none"/>
            <a:tailEnd len="med" w="med" type="triangle"/>
          </a:ln>
          <a:effectLst>
            <a:outerShdw blurRad="40000" rotWithShape="0" dir="5400000" dist="20000">
              <a:srgbClr val="000000">
                <a:alpha val="38039"/>
              </a:srgbClr>
            </a:outerShdw>
          </a:effectLst>
        </p:spPr>
      </p:cxnSp>
      <p:sp>
        <p:nvSpPr>
          <p:cNvPr id="321" name="Google Shape;321;p12"/>
          <p:cNvSpPr/>
          <p:nvPr/>
        </p:nvSpPr>
        <p:spPr>
          <a:xfrm>
            <a:off x="548640" y="4846320"/>
            <a:ext cx="10881360" cy="685800"/>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Accès manuel pour le débogage : tunnel SSH -L 8081:localhost:8080 → UI Airflow sur http://localhost:8081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13"/>
          <p:cNvSpPr txBox="1"/>
          <p:nvPr/>
        </p:nvSpPr>
        <p:spPr>
          <a:xfrm>
            <a:off x="548640" y="320040"/>
            <a:ext cx="868680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E8743B"/>
                </a:solidFill>
                <a:latin typeface="Calibri"/>
                <a:ea typeface="Calibri"/>
                <a:cs typeface="Calibri"/>
                <a:sym typeface="Calibri"/>
              </a:rPr>
              <a:t>7. DÉPLOIEMENT</a:t>
            </a:r>
            <a:endParaRPr/>
          </a:p>
        </p:txBody>
      </p:sp>
      <p:sp>
        <p:nvSpPr>
          <p:cNvPr id="327" name="Google Shape;327;p13"/>
          <p:cNvSpPr txBox="1"/>
          <p:nvPr/>
        </p:nvSpPr>
        <p:spPr>
          <a:xfrm>
            <a:off x="548640" y="621792"/>
            <a:ext cx="10515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111E33"/>
                </a:solidFill>
                <a:latin typeface="Calibri"/>
                <a:ea typeface="Calibri"/>
                <a:cs typeface="Calibri"/>
                <a:sym typeface="Calibri"/>
              </a:rPr>
              <a:t>Architecture MLflow &amp; base Neon</a:t>
            </a:r>
            <a:endParaRPr/>
          </a:p>
        </p:txBody>
      </p:sp>
      <p:sp>
        <p:nvSpPr>
          <p:cNvPr id="328" name="Google Shape;328;p13"/>
          <p:cNvSpPr txBox="1"/>
          <p:nvPr/>
        </p:nvSpPr>
        <p:spPr>
          <a:xfrm>
            <a:off x="548640" y="1207008"/>
            <a:ext cx="105156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5A6372"/>
                </a:solidFill>
                <a:latin typeface="Calibri"/>
                <a:ea typeface="Calibri"/>
                <a:cs typeface="Calibri"/>
                <a:sym typeface="Calibri"/>
              </a:rPr>
              <a:t>Space Hugging Face privé </a:t>
            </a:r>
            <a:r>
              <a:rPr lang="en-US" sz="1200">
                <a:solidFill>
                  <a:srgbClr val="5A6372"/>
                </a:solidFill>
                <a:latin typeface="Calibri"/>
                <a:ea typeface="Calibri"/>
                <a:cs typeface="Calibri"/>
                <a:sym typeface="Calibri"/>
              </a:rPr>
              <a:t>-</a:t>
            </a:r>
            <a:r>
              <a:rPr b="0" i="0" lang="en-US" sz="1200" u="none" cap="none" strike="noStrike">
                <a:solidFill>
                  <a:srgbClr val="5A6372"/>
                </a:solidFill>
                <a:latin typeface="Calibri"/>
                <a:ea typeface="Calibri"/>
                <a:cs typeface="Calibri"/>
                <a:sym typeface="Calibri"/>
              </a:rPr>
              <a:t> le suivi survit à l'arrêt/redémarrage de l'instance EC2</a:t>
            </a:r>
            <a:endParaRPr/>
          </a:p>
        </p:txBody>
      </p:sp>
      <p:sp>
        <p:nvSpPr>
          <p:cNvPr id="329" name="Google Shape;329;p13"/>
          <p:cNvSpPr/>
          <p:nvPr/>
        </p:nvSpPr>
        <p:spPr>
          <a:xfrm>
            <a:off x="548640" y="1481328"/>
            <a:ext cx="822960" cy="36576"/>
          </a:xfrm>
          <a:prstGeom prst="rect">
            <a:avLst/>
          </a:prstGeom>
          <a:solidFill>
            <a:srgbClr val="E874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0" name="Google Shape;330;p13"/>
          <p:cNvSpPr/>
          <p:nvPr/>
        </p:nvSpPr>
        <p:spPr>
          <a:xfrm>
            <a:off x="0" y="6537960"/>
            <a:ext cx="12191695" cy="91440"/>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13"/>
          <p:cNvSpPr txBox="1"/>
          <p:nvPr/>
        </p:nvSpPr>
        <p:spPr>
          <a:xfrm>
            <a:off x="365760" y="6565392"/>
            <a:ext cx="54864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5A6372"/>
                </a:solidFill>
                <a:latin typeface="Calibri"/>
                <a:ea typeface="Calibri"/>
                <a:cs typeface="Calibri"/>
                <a:sym typeface="Calibri"/>
              </a:rPr>
              <a:t>NYC Taxi Ride Demand &amp; Opportunity MLOps</a:t>
            </a:r>
            <a:endParaRPr/>
          </a:p>
        </p:txBody>
      </p:sp>
      <p:sp>
        <p:nvSpPr>
          <p:cNvPr id="332" name="Google Shape;332;p13"/>
          <p:cNvSpPr txBox="1"/>
          <p:nvPr/>
        </p:nvSpPr>
        <p:spPr>
          <a:xfrm>
            <a:off x="9994392" y="6565392"/>
            <a:ext cx="1828800" cy="27432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000" u="none" cap="none" strike="noStrike">
                <a:solidFill>
                  <a:srgbClr val="5A6372"/>
                </a:solidFill>
                <a:latin typeface="Calibri"/>
                <a:ea typeface="Calibri"/>
                <a:cs typeface="Calibri"/>
                <a:sym typeface="Calibri"/>
              </a:rPr>
              <a:t>13 / 17</a:t>
            </a:r>
            <a:endParaRPr/>
          </a:p>
        </p:txBody>
      </p:sp>
      <p:sp>
        <p:nvSpPr>
          <p:cNvPr id="333" name="Google Shape;333;p13"/>
          <p:cNvSpPr/>
          <p:nvPr/>
        </p:nvSpPr>
        <p:spPr>
          <a:xfrm>
            <a:off x="640080" y="1965960"/>
            <a:ext cx="3200400" cy="1005840"/>
          </a:xfrm>
          <a:prstGeom prst="roundRect">
            <a:avLst>
              <a:gd fmla="val 16667" name="adj"/>
            </a:avLst>
          </a:prstGeom>
          <a:solidFill>
            <a:srgbClr val="F4F5F7"/>
          </a:solidFill>
          <a:ln cap="flat" cmpd="sng" w="12700">
            <a:solidFill>
              <a:srgbClr val="2E5C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100" u="none" cap="none" strike="noStrike">
                <a:solidFill>
                  <a:srgbClr val="111E33"/>
                </a:solidFill>
                <a:latin typeface="Calibri"/>
                <a:ea typeface="Calibri"/>
                <a:cs typeface="Calibri"/>
                <a:sym typeface="Calibri"/>
              </a:rPr>
              <a:t>EC2 : tâche train_model</a:t>
            </a:r>
            <a:endParaRPr/>
          </a:p>
          <a:p>
            <a:pPr indent="0" lvl="0" marL="0" marR="0" rtl="0" algn="ctr">
              <a:spcBef>
                <a:spcPts val="0"/>
              </a:spcBef>
              <a:spcAft>
                <a:spcPts val="0"/>
              </a:spcAft>
              <a:buNone/>
            </a:pPr>
            <a:r>
              <a:rPr b="0" i="0" lang="en-US" sz="1100" u="none" cap="none" strike="noStrike">
                <a:solidFill>
                  <a:srgbClr val="111E33"/>
                </a:solidFill>
                <a:latin typeface="Calibri"/>
                <a:ea typeface="Calibri"/>
                <a:cs typeface="Calibri"/>
                <a:sym typeface="Calibri"/>
              </a:rPr>
              <a:t>mlflow.log_param / log_metric / log_artifact</a:t>
            </a:r>
            <a:endParaRPr/>
          </a:p>
        </p:txBody>
      </p:sp>
      <p:sp>
        <p:nvSpPr>
          <p:cNvPr id="334" name="Google Shape;334;p13"/>
          <p:cNvSpPr/>
          <p:nvPr/>
        </p:nvSpPr>
        <p:spPr>
          <a:xfrm>
            <a:off x="4434840" y="1965960"/>
            <a:ext cx="3200400" cy="1005840"/>
          </a:xfrm>
          <a:prstGeom prst="roundRect">
            <a:avLst>
              <a:gd fmla="val 16667" name="adj"/>
            </a:avLst>
          </a:prstGeom>
          <a:solidFill>
            <a:srgbClr val="F4F5F7"/>
          </a:solidFill>
          <a:ln cap="flat" cmpd="sng" w="12700">
            <a:solidFill>
              <a:srgbClr val="2E5C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100" u="none" cap="none" strike="noStrike">
                <a:solidFill>
                  <a:srgbClr val="111E33"/>
                </a:solidFill>
                <a:latin typeface="Calibri"/>
                <a:ea typeface="Calibri"/>
                <a:cs typeface="Calibri"/>
                <a:sym typeface="Calibri"/>
              </a:rPr>
              <a:t>Serveur MLflow</a:t>
            </a:r>
            <a:endParaRPr/>
          </a:p>
          <a:p>
            <a:pPr indent="0" lvl="0" marL="0" marR="0" rtl="0" algn="ctr">
              <a:spcBef>
                <a:spcPts val="0"/>
              </a:spcBef>
              <a:spcAft>
                <a:spcPts val="0"/>
              </a:spcAft>
              <a:buNone/>
            </a:pPr>
            <a:r>
              <a:rPr b="0" i="0" lang="en-US" sz="1100" u="none" cap="none" strike="noStrike">
                <a:solidFill>
                  <a:srgbClr val="111E33"/>
                </a:solidFill>
                <a:latin typeface="Calibri"/>
                <a:ea typeface="Calibri"/>
                <a:cs typeface="Calibri"/>
                <a:sym typeface="Calibri"/>
              </a:rPr>
              <a:t>Space Hugging Face — SDK Docker, privé</a:t>
            </a:r>
            <a:endParaRPr/>
          </a:p>
        </p:txBody>
      </p:sp>
      <p:sp>
        <p:nvSpPr>
          <p:cNvPr id="335" name="Google Shape;335;p13"/>
          <p:cNvSpPr/>
          <p:nvPr/>
        </p:nvSpPr>
        <p:spPr>
          <a:xfrm>
            <a:off x="8229600" y="1965960"/>
            <a:ext cx="3200400" cy="1005840"/>
          </a:xfrm>
          <a:prstGeom prst="roundRect">
            <a:avLst>
              <a:gd fmla="val 16667" name="adj"/>
            </a:avLst>
          </a:prstGeom>
          <a:solidFill>
            <a:srgbClr val="F4F5F7"/>
          </a:solidFill>
          <a:ln cap="flat" cmpd="sng" w="12700">
            <a:solidFill>
              <a:srgbClr val="2E5C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100" u="none" cap="none" strike="noStrike">
                <a:solidFill>
                  <a:srgbClr val="111E33"/>
                </a:solidFill>
                <a:latin typeface="Calibri"/>
                <a:ea typeface="Calibri"/>
                <a:cs typeface="Calibri"/>
                <a:sym typeface="Calibri"/>
              </a:rPr>
              <a:t>Authorization: Bearer &lt;token HF&gt;</a:t>
            </a:r>
            <a:endParaRPr/>
          </a:p>
          <a:p>
            <a:pPr indent="0" lvl="0" marL="0" marR="0" rtl="0" algn="ctr">
              <a:spcBef>
                <a:spcPts val="0"/>
              </a:spcBef>
              <a:spcAft>
                <a:spcPts val="0"/>
              </a:spcAft>
              <a:buNone/>
            </a:pPr>
            <a:r>
              <a:rPr b="0" i="0" lang="en-US" sz="1100" u="none" cap="none" strike="noStrike">
                <a:solidFill>
                  <a:srgbClr val="111E33"/>
                </a:solidFill>
                <a:latin typeface="Calibri"/>
                <a:ea typeface="Calibri"/>
                <a:cs typeface="Calibri"/>
                <a:sym typeface="Calibri"/>
              </a:rPr>
              <a:t>La visibilité privée du Space filtre chaque requête</a:t>
            </a:r>
            <a:endParaRPr/>
          </a:p>
        </p:txBody>
      </p:sp>
      <p:cxnSp>
        <p:nvCxnSpPr>
          <p:cNvPr id="336" name="Google Shape;336;p13"/>
          <p:cNvCxnSpPr/>
          <p:nvPr/>
        </p:nvCxnSpPr>
        <p:spPr>
          <a:xfrm>
            <a:off x="3840480" y="2468880"/>
            <a:ext cx="594360" cy="0"/>
          </a:xfrm>
          <a:prstGeom prst="straightConnector1">
            <a:avLst/>
          </a:prstGeom>
          <a:noFill/>
          <a:ln cap="flat" cmpd="sng" w="22225">
            <a:solidFill>
              <a:srgbClr val="2E5CB8"/>
            </a:solidFill>
            <a:prstDash val="solid"/>
            <a:round/>
            <a:headEnd len="sm" w="sm" type="none"/>
            <a:tailEnd len="sm" w="sm" type="none"/>
          </a:ln>
          <a:effectLst>
            <a:outerShdw blurRad="40000" rotWithShape="0" dir="5400000" dist="20000">
              <a:srgbClr val="000000">
                <a:alpha val="38039"/>
              </a:srgbClr>
            </a:outerShdw>
          </a:effectLst>
        </p:spPr>
      </p:cxnSp>
      <p:cxnSp>
        <p:nvCxnSpPr>
          <p:cNvPr id="337" name="Google Shape;337;p13"/>
          <p:cNvCxnSpPr/>
          <p:nvPr/>
        </p:nvCxnSpPr>
        <p:spPr>
          <a:xfrm>
            <a:off x="7635240" y="2468880"/>
            <a:ext cx="594360" cy="0"/>
          </a:xfrm>
          <a:prstGeom prst="straightConnector1">
            <a:avLst/>
          </a:prstGeom>
          <a:noFill/>
          <a:ln cap="flat" cmpd="sng" w="22225">
            <a:solidFill>
              <a:srgbClr val="2E5CB8"/>
            </a:solidFill>
            <a:prstDash val="solid"/>
            <a:round/>
            <a:headEnd len="sm" w="sm" type="none"/>
            <a:tailEnd len="sm" w="sm" type="none"/>
          </a:ln>
          <a:effectLst>
            <a:outerShdw blurRad="40000" rotWithShape="0" dir="5400000" dist="20000">
              <a:srgbClr val="000000">
                <a:alpha val="38039"/>
              </a:srgbClr>
            </a:outerShdw>
          </a:effectLst>
        </p:spPr>
      </p:cxnSp>
      <p:sp>
        <p:nvSpPr>
          <p:cNvPr id="338" name="Google Shape;338;p13"/>
          <p:cNvSpPr/>
          <p:nvPr/>
        </p:nvSpPr>
        <p:spPr>
          <a:xfrm>
            <a:off x="1737360" y="3474720"/>
            <a:ext cx="4114800" cy="822960"/>
          </a:xfrm>
          <a:prstGeom prst="roundRect">
            <a:avLst>
              <a:gd fmla="val 16667" name="adj"/>
            </a:avLst>
          </a:prstGeom>
          <a:solidFill>
            <a:srgbClr val="F4F5F7"/>
          </a:solidFill>
          <a:ln cap="flat" cmpd="sng" w="12700">
            <a:solidFill>
              <a:srgbClr val="2E5C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100" u="none" cap="none" strike="noStrike">
                <a:solidFill>
                  <a:srgbClr val="111E33"/>
                </a:solidFill>
                <a:latin typeface="Calibri"/>
                <a:ea typeface="Calibri"/>
                <a:cs typeface="Calibri"/>
                <a:sym typeface="Calibri"/>
              </a:rPr>
              <a:t>Neon Postgres — backend store</a:t>
            </a:r>
            <a:endParaRPr/>
          </a:p>
          <a:p>
            <a:pPr indent="0" lvl="0" marL="0" marR="0" rtl="0" algn="ctr">
              <a:spcBef>
                <a:spcPts val="0"/>
              </a:spcBef>
              <a:spcAft>
                <a:spcPts val="0"/>
              </a:spcAft>
              <a:buNone/>
            </a:pPr>
            <a:r>
              <a:rPr b="0" i="0" lang="en-US" sz="1100" u="none" cap="none" strike="noStrike">
                <a:solidFill>
                  <a:srgbClr val="111E33"/>
                </a:solidFill>
                <a:latin typeface="Calibri"/>
                <a:ea typeface="Calibri"/>
                <a:cs typeface="Calibri"/>
                <a:sym typeface="Calibri"/>
              </a:rPr>
              <a:t>paramètres, métriques, tags et registre de modèles des runs</a:t>
            </a:r>
            <a:endParaRPr/>
          </a:p>
        </p:txBody>
      </p:sp>
      <p:sp>
        <p:nvSpPr>
          <p:cNvPr id="339" name="Google Shape;339;p13"/>
          <p:cNvSpPr/>
          <p:nvPr/>
        </p:nvSpPr>
        <p:spPr>
          <a:xfrm>
            <a:off x="6339840" y="3474720"/>
            <a:ext cx="4114800" cy="822960"/>
          </a:xfrm>
          <a:prstGeom prst="roundRect">
            <a:avLst>
              <a:gd fmla="val 16667" name="adj"/>
            </a:avLst>
          </a:prstGeom>
          <a:solidFill>
            <a:srgbClr val="F4F5F7"/>
          </a:solidFill>
          <a:ln cap="flat" cmpd="sng" w="12700">
            <a:solidFill>
              <a:srgbClr val="2E5CB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100" u="none" cap="none" strike="noStrike">
                <a:solidFill>
                  <a:srgbClr val="111E33"/>
                </a:solidFill>
                <a:latin typeface="Calibri"/>
                <a:ea typeface="Calibri"/>
                <a:cs typeface="Calibri"/>
                <a:sym typeface="Calibri"/>
              </a:rPr>
              <a:t>S3 : taxi-mlops-nyc/mlflow — artifact store</a:t>
            </a:r>
            <a:endParaRPr/>
          </a:p>
          <a:p>
            <a:pPr indent="0" lvl="0" marL="0" marR="0" rtl="0" algn="ctr">
              <a:spcBef>
                <a:spcPts val="0"/>
              </a:spcBef>
              <a:spcAft>
                <a:spcPts val="0"/>
              </a:spcAft>
              <a:buNone/>
            </a:pPr>
            <a:r>
              <a:rPr b="0" i="0" lang="en-US" sz="1100" u="none" cap="none" strike="noStrike">
                <a:solidFill>
                  <a:srgbClr val="111E33"/>
                </a:solidFill>
                <a:latin typeface="Calibri"/>
                <a:ea typeface="Calibri"/>
                <a:cs typeface="Calibri"/>
                <a:sym typeface="Calibri"/>
              </a:rPr>
              <a:t>fichiers de modèles, graphiques, requirements.txt par run</a:t>
            </a:r>
            <a:endParaRPr/>
          </a:p>
        </p:txBody>
      </p:sp>
      <p:cxnSp>
        <p:nvCxnSpPr>
          <p:cNvPr id="340" name="Google Shape;340;p13"/>
          <p:cNvCxnSpPr/>
          <p:nvPr/>
        </p:nvCxnSpPr>
        <p:spPr>
          <a:xfrm flipH="1">
            <a:off x="3794760" y="2971800"/>
            <a:ext cx="2240280" cy="502920"/>
          </a:xfrm>
          <a:prstGeom prst="straightConnector1">
            <a:avLst/>
          </a:prstGeom>
          <a:noFill/>
          <a:ln cap="flat" cmpd="sng" w="22225">
            <a:solidFill>
              <a:srgbClr val="2E5CB8"/>
            </a:solidFill>
            <a:prstDash val="solid"/>
            <a:round/>
            <a:headEnd len="sm" w="sm" type="none"/>
            <a:tailEnd len="sm" w="sm" type="none"/>
          </a:ln>
          <a:effectLst>
            <a:outerShdw blurRad="40000" rotWithShape="0" dir="5400000" dist="20000">
              <a:srgbClr val="000000">
                <a:alpha val="38039"/>
              </a:srgbClr>
            </a:outerShdw>
          </a:effectLst>
        </p:spPr>
      </p:cxnSp>
      <p:cxnSp>
        <p:nvCxnSpPr>
          <p:cNvPr id="341" name="Google Shape;341;p13"/>
          <p:cNvCxnSpPr/>
          <p:nvPr/>
        </p:nvCxnSpPr>
        <p:spPr>
          <a:xfrm>
            <a:off x="6035040" y="2971800"/>
            <a:ext cx="2362200" cy="502920"/>
          </a:xfrm>
          <a:prstGeom prst="straightConnector1">
            <a:avLst/>
          </a:prstGeom>
          <a:noFill/>
          <a:ln cap="flat" cmpd="sng" w="22225">
            <a:solidFill>
              <a:srgbClr val="2E5CB8"/>
            </a:solidFill>
            <a:prstDash val="solid"/>
            <a:round/>
            <a:headEnd len="sm" w="sm" type="none"/>
            <a:tailEnd len="sm" w="sm" type="none"/>
          </a:ln>
          <a:effectLst>
            <a:outerShdw blurRad="40000" rotWithShape="0" dir="5400000" dist="20000">
              <a:srgbClr val="000000">
                <a:alpha val="38039"/>
              </a:srgbClr>
            </a:outerShdw>
          </a:effectLst>
        </p:spPr>
      </p:cxnSp>
      <p:sp>
        <p:nvSpPr>
          <p:cNvPr id="342" name="Google Shape;342;p13"/>
          <p:cNvSpPr/>
          <p:nvPr/>
        </p:nvSpPr>
        <p:spPr>
          <a:xfrm>
            <a:off x="548640" y="4617720"/>
            <a:ext cx="10881360" cy="731520"/>
          </a:xfrm>
          <a:prstGeom prst="roundRect">
            <a:avLst>
              <a:gd fmla="val 16667" name="adj"/>
            </a:avLst>
          </a:prstGeom>
          <a:solidFill>
            <a:srgbClr val="FFFFFF"/>
          </a:solidFill>
          <a:ln cap="flat" cmpd="sng" w="12700">
            <a:solidFill>
              <a:srgbClr val="5A637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150" u="none" cap="none" strike="noStrike">
                <a:solidFill>
                  <a:srgbClr val="111E33"/>
                </a:solidFill>
                <a:latin typeface="Calibri"/>
                <a:ea typeface="Calibri"/>
                <a:cs typeface="Calibri"/>
                <a:sym typeface="Calibri"/>
              </a:rPr>
              <a:t>Le développement local n'est pas impacté  docker-compose.yml continue de faire tourner son propre conteneur mlflow:5000 ; seul docker-compose.ec2.yml pointe MLFLOW_TRACKING_URI vers le Space.</a:t>
            </a:r>
            <a:endParaRPr/>
          </a:p>
        </p:txBody>
      </p:sp>
      <p:sp>
        <p:nvSpPr>
          <p:cNvPr id="343" name="Google Shape;343;p13"/>
          <p:cNvSpPr/>
          <p:nvPr/>
        </p:nvSpPr>
        <p:spPr>
          <a:xfrm>
            <a:off x="548640" y="5532120"/>
            <a:ext cx="10881360" cy="685800"/>
          </a:xfrm>
          <a:prstGeom prst="roundRect">
            <a:avLst>
              <a:gd fmla="val 16667" name="adj"/>
            </a:avLst>
          </a:prstGeom>
          <a:solidFill>
            <a:srgbClr val="2E5C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150" u="none" cap="none" strike="noStrike">
                <a:solidFill>
                  <a:srgbClr val="FFFFFF"/>
                </a:solidFill>
                <a:latin typeface="Calibri"/>
                <a:ea typeface="Calibri"/>
                <a:cs typeface="Calibri"/>
                <a:sym typeface="Calibri"/>
              </a:rPr>
              <a:t>Compromis du plan gratuit : Neon se met en veille après une période d'inactivité — la première requête MLflow après une pause subit un démarrage à froid d'environ 1 à 2 secondes.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14"/>
          <p:cNvSpPr txBox="1"/>
          <p:nvPr/>
        </p:nvSpPr>
        <p:spPr>
          <a:xfrm>
            <a:off x="548640" y="320040"/>
            <a:ext cx="86868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E8743B"/>
                </a:solidFill>
                <a:latin typeface="Calibri"/>
                <a:ea typeface="Calibri"/>
                <a:cs typeface="Calibri"/>
                <a:sym typeface="Calibri"/>
              </a:rPr>
              <a:t>8. STACK TECHNIQUE</a:t>
            </a:r>
            <a:endParaRPr/>
          </a:p>
        </p:txBody>
      </p:sp>
      <p:sp>
        <p:nvSpPr>
          <p:cNvPr id="349" name="Google Shape;349;p14"/>
          <p:cNvSpPr txBox="1"/>
          <p:nvPr/>
        </p:nvSpPr>
        <p:spPr>
          <a:xfrm>
            <a:off x="548640" y="621792"/>
            <a:ext cx="105156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u="none" cap="none" strike="noStrike">
                <a:solidFill>
                  <a:srgbClr val="111E33"/>
                </a:solidFill>
                <a:latin typeface="Calibri"/>
                <a:ea typeface="Calibri"/>
                <a:cs typeface="Calibri"/>
                <a:sym typeface="Calibri"/>
              </a:rPr>
              <a:t>Résumé de la stack technique</a:t>
            </a:r>
            <a:endParaRPr/>
          </a:p>
        </p:txBody>
      </p:sp>
      <p:sp>
        <p:nvSpPr>
          <p:cNvPr id="350" name="Google Shape;350;p14"/>
          <p:cNvSpPr txBox="1"/>
          <p:nvPr/>
        </p:nvSpPr>
        <p:spPr>
          <a:xfrm>
            <a:off x="548640" y="1207008"/>
            <a:ext cx="105156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A6372"/>
                </a:solidFill>
                <a:latin typeface="Calibri"/>
                <a:ea typeface="Calibri"/>
                <a:cs typeface="Calibri"/>
                <a:sym typeface="Calibri"/>
              </a:rPr>
              <a:t>Vue d'ensemble de la stack</a:t>
            </a:r>
            <a:endParaRPr/>
          </a:p>
        </p:txBody>
      </p:sp>
      <p:sp>
        <p:nvSpPr>
          <p:cNvPr id="351" name="Google Shape;351;p14"/>
          <p:cNvSpPr/>
          <p:nvPr/>
        </p:nvSpPr>
        <p:spPr>
          <a:xfrm>
            <a:off x="548640" y="1481328"/>
            <a:ext cx="822960" cy="36576"/>
          </a:xfrm>
          <a:prstGeom prst="rect">
            <a:avLst/>
          </a:prstGeom>
          <a:solidFill>
            <a:srgbClr val="E874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2" name="Google Shape;352;p14"/>
          <p:cNvSpPr/>
          <p:nvPr/>
        </p:nvSpPr>
        <p:spPr>
          <a:xfrm>
            <a:off x="0" y="6537960"/>
            <a:ext cx="12191695" cy="91440"/>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3" name="Google Shape;353;p14"/>
          <p:cNvSpPr txBox="1"/>
          <p:nvPr/>
        </p:nvSpPr>
        <p:spPr>
          <a:xfrm>
            <a:off x="365760" y="6565392"/>
            <a:ext cx="54864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A6372"/>
                </a:solidFill>
                <a:latin typeface="Calibri"/>
                <a:ea typeface="Calibri"/>
                <a:cs typeface="Calibri"/>
                <a:sym typeface="Calibri"/>
              </a:rPr>
              <a:t>NYC Taxi Ride Demand &amp; Opportunity MLOps</a:t>
            </a:r>
            <a:endParaRPr/>
          </a:p>
        </p:txBody>
      </p:sp>
      <p:sp>
        <p:nvSpPr>
          <p:cNvPr id="354" name="Google Shape;354;p14"/>
          <p:cNvSpPr txBox="1"/>
          <p:nvPr/>
        </p:nvSpPr>
        <p:spPr>
          <a:xfrm>
            <a:off x="9994392" y="6565392"/>
            <a:ext cx="1828800"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A6372"/>
                </a:solidFill>
                <a:latin typeface="Calibri"/>
                <a:ea typeface="Calibri"/>
                <a:cs typeface="Calibri"/>
                <a:sym typeface="Calibri"/>
              </a:rPr>
              <a:t>14 / 17</a:t>
            </a:r>
            <a:endParaRPr/>
          </a:p>
        </p:txBody>
      </p:sp>
      <p:sp>
        <p:nvSpPr>
          <p:cNvPr id="355" name="Google Shape;355;p14"/>
          <p:cNvSpPr/>
          <p:nvPr/>
        </p:nvSpPr>
        <p:spPr>
          <a:xfrm>
            <a:off x="548640" y="1965960"/>
            <a:ext cx="2377440" cy="566928"/>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Orchestration</a:t>
            </a:r>
            <a:endParaRPr/>
          </a:p>
        </p:txBody>
      </p:sp>
      <p:sp>
        <p:nvSpPr>
          <p:cNvPr id="356" name="Google Shape;356;p14"/>
          <p:cNvSpPr/>
          <p:nvPr/>
        </p:nvSpPr>
        <p:spPr>
          <a:xfrm>
            <a:off x="3200400" y="1965960"/>
            <a:ext cx="1773936" cy="566928"/>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50" u="none" cap="none" strike="noStrike">
                <a:solidFill>
                  <a:srgbClr val="111E33"/>
                </a:solidFill>
                <a:latin typeface="Calibri"/>
                <a:ea typeface="Calibri"/>
                <a:cs typeface="Calibri"/>
                <a:sym typeface="Calibri"/>
              </a:rPr>
              <a:t>Apache Airflow</a:t>
            </a:r>
            <a:endParaRPr/>
          </a:p>
        </p:txBody>
      </p:sp>
      <p:sp>
        <p:nvSpPr>
          <p:cNvPr id="357" name="Google Shape;357;p14"/>
          <p:cNvSpPr/>
          <p:nvPr/>
        </p:nvSpPr>
        <p:spPr>
          <a:xfrm>
            <a:off x="5111496" y="1965960"/>
            <a:ext cx="1773936" cy="566928"/>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50" u="none" cap="none" strike="noStrike">
                <a:solidFill>
                  <a:srgbClr val="111E33"/>
                </a:solidFill>
                <a:latin typeface="Calibri"/>
                <a:ea typeface="Calibri"/>
                <a:cs typeface="Calibri"/>
                <a:sym typeface="Calibri"/>
              </a:rPr>
              <a:t>Docker Compose</a:t>
            </a:r>
            <a:endParaRPr/>
          </a:p>
        </p:txBody>
      </p:sp>
      <p:sp>
        <p:nvSpPr>
          <p:cNvPr id="358" name="Google Shape;358;p14"/>
          <p:cNvSpPr/>
          <p:nvPr/>
        </p:nvSpPr>
        <p:spPr>
          <a:xfrm>
            <a:off x="548640" y="2670048"/>
            <a:ext cx="2377440" cy="566928"/>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Données &amp; Stockage</a:t>
            </a:r>
            <a:endParaRPr/>
          </a:p>
        </p:txBody>
      </p:sp>
      <p:sp>
        <p:nvSpPr>
          <p:cNvPr id="359" name="Google Shape;359;p14"/>
          <p:cNvSpPr/>
          <p:nvPr/>
        </p:nvSpPr>
        <p:spPr>
          <a:xfrm>
            <a:off x="3200400" y="2670048"/>
            <a:ext cx="1005840" cy="566928"/>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50" u="none" cap="none" strike="noStrike">
                <a:solidFill>
                  <a:srgbClr val="111E33"/>
                </a:solidFill>
                <a:latin typeface="Calibri"/>
                <a:ea typeface="Calibri"/>
                <a:cs typeface="Calibri"/>
                <a:sym typeface="Calibri"/>
              </a:rPr>
              <a:t>DuckDB</a:t>
            </a:r>
            <a:endParaRPr/>
          </a:p>
        </p:txBody>
      </p:sp>
      <p:sp>
        <p:nvSpPr>
          <p:cNvPr id="360" name="Google Shape;360;p14"/>
          <p:cNvSpPr/>
          <p:nvPr/>
        </p:nvSpPr>
        <p:spPr>
          <a:xfrm>
            <a:off x="4343400" y="2670048"/>
            <a:ext cx="1005840" cy="566928"/>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50" u="none" cap="none" strike="noStrike">
                <a:solidFill>
                  <a:srgbClr val="111E33"/>
                </a:solidFill>
                <a:latin typeface="Calibri"/>
                <a:ea typeface="Calibri"/>
                <a:cs typeface="Calibri"/>
                <a:sym typeface="Calibri"/>
              </a:rPr>
              <a:t>Pandas</a:t>
            </a:r>
            <a:endParaRPr/>
          </a:p>
        </p:txBody>
      </p:sp>
      <p:sp>
        <p:nvSpPr>
          <p:cNvPr id="361" name="Google Shape;361;p14"/>
          <p:cNvSpPr/>
          <p:nvPr/>
        </p:nvSpPr>
        <p:spPr>
          <a:xfrm>
            <a:off x="5486400" y="2670048"/>
            <a:ext cx="1005840" cy="566928"/>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50" u="none" cap="none" strike="noStrike">
                <a:solidFill>
                  <a:srgbClr val="111E33"/>
                </a:solidFill>
                <a:latin typeface="Calibri"/>
                <a:ea typeface="Calibri"/>
                <a:cs typeface="Calibri"/>
                <a:sym typeface="Calibri"/>
              </a:rPr>
              <a:t>AWS S3</a:t>
            </a:r>
            <a:endParaRPr/>
          </a:p>
        </p:txBody>
      </p:sp>
      <p:sp>
        <p:nvSpPr>
          <p:cNvPr id="362" name="Google Shape;362;p14"/>
          <p:cNvSpPr/>
          <p:nvPr/>
        </p:nvSpPr>
        <p:spPr>
          <a:xfrm>
            <a:off x="6629400" y="2670048"/>
            <a:ext cx="1005840" cy="566928"/>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50" u="none" cap="none" strike="noStrike">
                <a:solidFill>
                  <a:srgbClr val="111E33"/>
                </a:solidFill>
                <a:latin typeface="Calibri"/>
                <a:ea typeface="Calibri"/>
                <a:cs typeface="Calibri"/>
                <a:sym typeface="Calibri"/>
              </a:rPr>
              <a:t>boto3</a:t>
            </a:r>
            <a:endParaRPr/>
          </a:p>
        </p:txBody>
      </p:sp>
      <p:sp>
        <p:nvSpPr>
          <p:cNvPr id="363" name="Google Shape;363;p14"/>
          <p:cNvSpPr/>
          <p:nvPr/>
        </p:nvSpPr>
        <p:spPr>
          <a:xfrm>
            <a:off x="7772400" y="2670048"/>
            <a:ext cx="1069848" cy="566928"/>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50" u="none" cap="none" strike="noStrike">
                <a:solidFill>
                  <a:srgbClr val="111E33"/>
                </a:solidFill>
                <a:latin typeface="Calibri"/>
                <a:ea typeface="Calibri"/>
                <a:cs typeface="Calibri"/>
                <a:sym typeface="Calibri"/>
              </a:rPr>
              <a:t>Parquet</a:t>
            </a:r>
            <a:endParaRPr/>
          </a:p>
        </p:txBody>
      </p:sp>
      <p:sp>
        <p:nvSpPr>
          <p:cNvPr id="364" name="Google Shape;364;p14"/>
          <p:cNvSpPr/>
          <p:nvPr/>
        </p:nvSpPr>
        <p:spPr>
          <a:xfrm>
            <a:off x="548640" y="3374136"/>
            <a:ext cx="2377440" cy="566928"/>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Modélisation</a:t>
            </a:r>
            <a:endParaRPr/>
          </a:p>
        </p:txBody>
      </p:sp>
      <p:sp>
        <p:nvSpPr>
          <p:cNvPr id="365" name="Google Shape;365;p14"/>
          <p:cNvSpPr/>
          <p:nvPr/>
        </p:nvSpPr>
        <p:spPr>
          <a:xfrm>
            <a:off x="3200400" y="3374136"/>
            <a:ext cx="1170432" cy="566928"/>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50" u="none" cap="none" strike="noStrike">
                <a:solidFill>
                  <a:srgbClr val="111E33"/>
                </a:solidFill>
                <a:latin typeface="Calibri"/>
                <a:ea typeface="Calibri"/>
                <a:cs typeface="Calibri"/>
                <a:sym typeface="Calibri"/>
              </a:rPr>
              <a:t>LightGBM</a:t>
            </a:r>
            <a:endParaRPr/>
          </a:p>
        </p:txBody>
      </p:sp>
      <p:sp>
        <p:nvSpPr>
          <p:cNvPr id="366" name="Google Shape;366;p14"/>
          <p:cNvSpPr/>
          <p:nvPr/>
        </p:nvSpPr>
        <p:spPr>
          <a:xfrm>
            <a:off x="4507992" y="3374136"/>
            <a:ext cx="1069848" cy="566928"/>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50" u="none" cap="none" strike="noStrike">
                <a:solidFill>
                  <a:srgbClr val="111E33"/>
                </a:solidFill>
                <a:latin typeface="Calibri"/>
                <a:ea typeface="Calibri"/>
                <a:cs typeface="Calibri"/>
                <a:sym typeface="Calibri"/>
              </a:rPr>
              <a:t>XGBoost</a:t>
            </a:r>
            <a:endParaRPr/>
          </a:p>
        </p:txBody>
      </p:sp>
      <p:sp>
        <p:nvSpPr>
          <p:cNvPr id="367" name="Google Shape;367;p14"/>
          <p:cNvSpPr/>
          <p:nvPr/>
        </p:nvSpPr>
        <p:spPr>
          <a:xfrm>
            <a:off x="5715000" y="3374136"/>
            <a:ext cx="1572768" cy="566928"/>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50" u="none" cap="none" strike="noStrike">
                <a:solidFill>
                  <a:srgbClr val="111E33"/>
                </a:solidFill>
                <a:latin typeface="Calibri"/>
                <a:ea typeface="Calibri"/>
                <a:cs typeface="Calibri"/>
                <a:sym typeface="Calibri"/>
              </a:rPr>
              <a:t>scikit-learn</a:t>
            </a:r>
            <a:endParaRPr/>
          </a:p>
        </p:txBody>
      </p:sp>
      <p:sp>
        <p:nvSpPr>
          <p:cNvPr id="368" name="Google Shape;368;p14"/>
          <p:cNvSpPr/>
          <p:nvPr/>
        </p:nvSpPr>
        <p:spPr>
          <a:xfrm>
            <a:off x="7424928" y="3374136"/>
            <a:ext cx="1005840" cy="566928"/>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50" u="none" cap="none" strike="noStrike">
                <a:solidFill>
                  <a:srgbClr val="111E33"/>
                </a:solidFill>
                <a:latin typeface="Calibri"/>
                <a:ea typeface="Calibri"/>
                <a:cs typeface="Calibri"/>
                <a:sym typeface="Calibri"/>
              </a:rPr>
              <a:t>Optuna</a:t>
            </a:r>
            <a:endParaRPr/>
          </a:p>
        </p:txBody>
      </p:sp>
      <p:sp>
        <p:nvSpPr>
          <p:cNvPr id="369" name="Google Shape;369;p14"/>
          <p:cNvSpPr/>
          <p:nvPr/>
        </p:nvSpPr>
        <p:spPr>
          <a:xfrm>
            <a:off x="8567928" y="3374136"/>
            <a:ext cx="1005840" cy="566928"/>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50" u="none" cap="none" strike="noStrike">
                <a:solidFill>
                  <a:srgbClr val="111E33"/>
                </a:solidFill>
                <a:latin typeface="Calibri"/>
                <a:ea typeface="Calibri"/>
                <a:cs typeface="Calibri"/>
                <a:sym typeface="Calibri"/>
              </a:rPr>
              <a:t>MLflow</a:t>
            </a:r>
            <a:endParaRPr/>
          </a:p>
        </p:txBody>
      </p:sp>
      <p:sp>
        <p:nvSpPr>
          <p:cNvPr id="370" name="Google Shape;370;p14"/>
          <p:cNvSpPr/>
          <p:nvPr/>
        </p:nvSpPr>
        <p:spPr>
          <a:xfrm>
            <a:off x="548640" y="4078224"/>
            <a:ext cx="2377440" cy="566928"/>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Mise en service</a:t>
            </a:r>
            <a:endParaRPr/>
          </a:p>
        </p:txBody>
      </p:sp>
      <p:sp>
        <p:nvSpPr>
          <p:cNvPr id="371" name="Google Shape;371;p14"/>
          <p:cNvSpPr/>
          <p:nvPr/>
        </p:nvSpPr>
        <p:spPr>
          <a:xfrm>
            <a:off x="3200400" y="4078224"/>
            <a:ext cx="1069848" cy="566928"/>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50" u="none" cap="none" strike="noStrike">
                <a:solidFill>
                  <a:srgbClr val="111E33"/>
                </a:solidFill>
                <a:latin typeface="Calibri"/>
                <a:ea typeface="Calibri"/>
                <a:cs typeface="Calibri"/>
                <a:sym typeface="Calibri"/>
              </a:rPr>
              <a:t>FastAPI</a:t>
            </a:r>
            <a:endParaRPr/>
          </a:p>
        </p:txBody>
      </p:sp>
      <p:sp>
        <p:nvSpPr>
          <p:cNvPr id="372" name="Google Shape;372;p14"/>
          <p:cNvSpPr/>
          <p:nvPr/>
        </p:nvSpPr>
        <p:spPr>
          <a:xfrm>
            <a:off x="4407408" y="4078224"/>
            <a:ext cx="1271016" cy="566928"/>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50" u="none" cap="none" strike="noStrike">
                <a:solidFill>
                  <a:srgbClr val="111E33"/>
                </a:solidFill>
                <a:latin typeface="Calibri"/>
                <a:ea typeface="Calibri"/>
                <a:cs typeface="Calibri"/>
                <a:sym typeface="Calibri"/>
              </a:rPr>
              <a:t>Streamlit</a:t>
            </a:r>
            <a:endParaRPr/>
          </a:p>
        </p:txBody>
      </p:sp>
      <p:sp>
        <p:nvSpPr>
          <p:cNvPr id="373" name="Google Shape;373;p14"/>
          <p:cNvSpPr/>
          <p:nvPr/>
        </p:nvSpPr>
        <p:spPr>
          <a:xfrm>
            <a:off x="5815584" y="4078224"/>
            <a:ext cx="1005840" cy="566928"/>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50" u="none" cap="none" strike="noStrike">
                <a:solidFill>
                  <a:srgbClr val="111E33"/>
                </a:solidFill>
                <a:latin typeface="Calibri"/>
                <a:ea typeface="Calibri"/>
                <a:cs typeface="Calibri"/>
                <a:sym typeface="Calibri"/>
              </a:rPr>
              <a:t>Plotly</a:t>
            </a:r>
            <a:endParaRPr/>
          </a:p>
        </p:txBody>
      </p:sp>
      <p:sp>
        <p:nvSpPr>
          <p:cNvPr id="374" name="Google Shape;374;p14"/>
          <p:cNvSpPr/>
          <p:nvPr/>
        </p:nvSpPr>
        <p:spPr>
          <a:xfrm>
            <a:off x="6958584" y="4078224"/>
            <a:ext cx="1069848" cy="566928"/>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50" u="none" cap="none" strike="noStrike">
                <a:solidFill>
                  <a:srgbClr val="111E33"/>
                </a:solidFill>
                <a:latin typeface="Calibri"/>
                <a:ea typeface="Calibri"/>
                <a:cs typeface="Calibri"/>
                <a:sym typeface="Calibri"/>
              </a:rPr>
              <a:t>slowapi</a:t>
            </a:r>
            <a:endParaRPr/>
          </a:p>
        </p:txBody>
      </p:sp>
      <p:sp>
        <p:nvSpPr>
          <p:cNvPr id="375" name="Google Shape;375;p14"/>
          <p:cNvSpPr/>
          <p:nvPr/>
        </p:nvSpPr>
        <p:spPr>
          <a:xfrm>
            <a:off x="548640" y="4782312"/>
            <a:ext cx="2377440" cy="566928"/>
          </a:xfrm>
          <a:prstGeom prst="roundRect">
            <a:avLst>
              <a:gd fmla="val 8000" name="adj"/>
            </a:avLst>
          </a:prstGeom>
          <a:solidFill>
            <a:srgbClr val="2E5CB8"/>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300" u="none" cap="none" strike="noStrike">
                <a:solidFill>
                  <a:srgbClr val="FFFFFF"/>
                </a:solidFill>
                <a:latin typeface="Calibri"/>
                <a:ea typeface="Calibri"/>
                <a:cs typeface="Calibri"/>
                <a:sym typeface="Calibri"/>
              </a:rPr>
              <a:t>Cloud / Automatisation</a:t>
            </a:r>
            <a:endParaRPr/>
          </a:p>
        </p:txBody>
      </p:sp>
      <p:sp>
        <p:nvSpPr>
          <p:cNvPr id="376" name="Google Shape;376;p14"/>
          <p:cNvSpPr/>
          <p:nvPr/>
        </p:nvSpPr>
        <p:spPr>
          <a:xfrm>
            <a:off x="3200400" y="4782312"/>
            <a:ext cx="1069848" cy="566928"/>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50" u="none" cap="none" strike="noStrike">
                <a:solidFill>
                  <a:srgbClr val="111E33"/>
                </a:solidFill>
                <a:latin typeface="Calibri"/>
                <a:ea typeface="Calibri"/>
                <a:cs typeface="Calibri"/>
                <a:sym typeface="Calibri"/>
              </a:rPr>
              <a:t>AWS EC2</a:t>
            </a:r>
            <a:endParaRPr/>
          </a:p>
        </p:txBody>
      </p:sp>
      <p:sp>
        <p:nvSpPr>
          <p:cNvPr id="377" name="Google Shape;377;p14"/>
          <p:cNvSpPr/>
          <p:nvPr/>
        </p:nvSpPr>
        <p:spPr>
          <a:xfrm>
            <a:off x="4407408" y="4782312"/>
            <a:ext cx="1371600" cy="566928"/>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50" u="none" cap="none" strike="noStrike">
                <a:solidFill>
                  <a:srgbClr val="111E33"/>
                </a:solidFill>
                <a:latin typeface="Calibri"/>
                <a:ea typeface="Calibri"/>
                <a:cs typeface="Calibri"/>
                <a:sym typeface="Calibri"/>
              </a:rPr>
              <a:t>AWS Lambda</a:t>
            </a:r>
            <a:endParaRPr/>
          </a:p>
        </p:txBody>
      </p:sp>
      <p:sp>
        <p:nvSpPr>
          <p:cNvPr id="378" name="Google Shape;378;p14"/>
          <p:cNvSpPr/>
          <p:nvPr/>
        </p:nvSpPr>
        <p:spPr>
          <a:xfrm>
            <a:off x="5916168" y="4782312"/>
            <a:ext cx="1472184" cy="566928"/>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50" u="none" cap="none" strike="noStrike">
                <a:solidFill>
                  <a:srgbClr val="111E33"/>
                </a:solidFill>
                <a:latin typeface="Calibri"/>
                <a:ea typeface="Calibri"/>
                <a:cs typeface="Calibri"/>
                <a:sym typeface="Calibri"/>
              </a:rPr>
              <a:t>EventBridge</a:t>
            </a:r>
            <a:endParaRPr/>
          </a:p>
        </p:txBody>
      </p:sp>
      <p:sp>
        <p:nvSpPr>
          <p:cNvPr id="379" name="Google Shape;379;p14"/>
          <p:cNvSpPr/>
          <p:nvPr/>
        </p:nvSpPr>
        <p:spPr>
          <a:xfrm>
            <a:off x="7525512" y="4782312"/>
            <a:ext cx="1271016" cy="566928"/>
          </a:xfrm>
          <a:prstGeom prst="roundRect">
            <a:avLst>
              <a:gd fmla="val 40000" name="adj"/>
            </a:avLst>
          </a:prstGeom>
          <a:solidFill>
            <a:srgbClr val="F4F5F7"/>
          </a:solidFill>
          <a:ln cap="flat" cmpd="sng" w="12700">
            <a:solidFill>
              <a:srgbClr val="C9D3E6"/>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0" i="0" lang="en-US" sz="1250" u="none" cap="none" strike="noStrike">
                <a:solidFill>
                  <a:srgbClr val="111E33"/>
                </a:solidFill>
                <a:latin typeface="Calibri"/>
                <a:ea typeface="Calibri"/>
                <a:cs typeface="Calibri"/>
                <a:sym typeface="Calibri"/>
              </a:rPr>
              <a:t>Rôles IAM</a:t>
            </a:r>
            <a:endParaRPr/>
          </a:p>
        </p:txBody>
      </p:sp>
      <p:sp>
        <p:nvSpPr>
          <p:cNvPr id="380" name="Google Shape;380;p14"/>
          <p:cNvSpPr/>
          <p:nvPr/>
        </p:nvSpPr>
        <p:spPr>
          <a:xfrm>
            <a:off x="731520" y="5577840"/>
            <a:ext cx="10698480" cy="914400"/>
          </a:xfrm>
          <a:prstGeom prst="roundRect">
            <a:avLst>
              <a:gd fmla="val 8000" name="adj"/>
            </a:avLst>
          </a:prstGeom>
          <a:solidFill>
            <a:srgbClr val="FFFFFF"/>
          </a:solidFill>
          <a:ln cap="flat" cmpd="sng" w="12700">
            <a:solidFill>
              <a:srgbClr val="2E5CB8"/>
            </a:solidFill>
            <a:prstDash val="solid"/>
            <a:round/>
            <a:headEnd len="sm" w="sm" type="none"/>
            <a:tailEnd len="sm" w="sm" type="none"/>
          </a:ln>
        </p:spPr>
        <p:txBody>
          <a:bodyPr anchorCtr="0" anchor="ctr" bIns="27425" lIns="73150" spcFirstLastPara="1" rIns="73150" wrap="square" tIns="27425">
            <a:noAutofit/>
          </a:bodyPr>
          <a:lstStyle/>
          <a:p>
            <a:pPr indent="0" lvl="0" marL="0" marR="0" rtl="0" algn="ctr">
              <a:spcBef>
                <a:spcPts val="0"/>
              </a:spcBef>
              <a:spcAft>
                <a:spcPts val="0"/>
              </a:spcAft>
              <a:buNone/>
            </a:pPr>
            <a:r>
              <a:rPr b="1" i="0" lang="en-US" sz="1350" u="none" cap="none" strike="noStrike">
                <a:solidFill>
                  <a:srgbClr val="111E33"/>
                </a:solidFill>
                <a:latin typeface="Calibri"/>
                <a:ea typeface="Calibri"/>
                <a:cs typeface="Calibri"/>
                <a:sym typeface="Calibri"/>
              </a:rPr>
              <a:t>Des données brutes de courses de taxi et de météo new-yorkaises à une recommandation horaire, classée et en direct,</a:t>
            </a:r>
            <a:endParaRPr/>
          </a:p>
          <a:p>
            <a:pPr indent="0" lvl="0" marL="0" marR="0" rtl="0" algn="ctr">
              <a:spcBef>
                <a:spcPts val="0"/>
              </a:spcBef>
              <a:spcAft>
                <a:spcPts val="0"/>
              </a:spcAft>
              <a:buNone/>
            </a:pPr>
            <a:r>
              <a:rPr b="1" i="0" lang="en-US" sz="1350" u="none" cap="none" strike="noStrike">
                <a:solidFill>
                  <a:srgbClr val="111E33"/>
                </a:solidFill>
                <a:latin typeface="Calibri"/>
                <a:ea typeface="Calibri"/>
                <a:cs typeface="Calibri"/>
                <a:sym typeface="Calibri"/>
              </a:rPr>
              <a:t>de l'endroit où un chauffeur devrait se rendre </a:t>
            </a:r>
            <a:r>
              <a:rPr b="1" lang="en-US" sz="1350">
                <a:solidFill>
                  <a:srgbClr val="111E33"/>
                </a:solidFill>
                <a:latin typeface="Calibri"/>
                <a:ea typeface="Calibri"/>
                <a:cs typeface="Calibri"/>
                <a:sym typeface="Calibri"/>
              </a:rPr>
              <a:t>-</a:t>
            </a:r>
            <a:r>
              <a:rPr b="1" i="0" lang="en-US" sz="1350" u="none" cap="none" strike="noStrike">
                <a:solidFill>
                  <a:srgbClr val="111E33"/>
                </a:solidFill>
                <a:latin typeface="Calibri"/>
                <a:ea typeface="Calibri"/>
                <a:cs typeface="Calibri"/>
                <a:sym typeface="Calibri"/>
              </a:rPr>
              <a:t> entièrement automatisé, de bout en bout.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15"/>
          <p:cNvSpPr txBox="1"/>
          <p:nvPr/>
        </p:nvSpPr>
        <p:spPr>
          <a:xfrm>
            <a:off x="548640" y="320040"/>
            <a:ext cx="86868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E8743B"/>
                </a:solidFill>
                <a:latin typeface="Calibri"/>
                <a:ea typeface="Calibri"/>
                <a:cs typeface="Calibri"/>
                <a:sym typeface="Calibri"/>
              </a:rPr>
              <a:t>9. MISES À JOUR RÉCENTES</a:t>
            </a:r>
            <a:endParaRPr/>
          </a:p>
        </p:txBody>
      </p:sp>
      <p:sp>
        <p:nvSpPr>
          <p:cNvPr id="386" name="Google Shape;386;p15"/>
          <p:cNvSpPr txBox="1"/>
          <p:nvPr/>
        </p:nvSpPr>
        <p:spPr>
          <a:xfrm>
            <a:off x="548640" y="621792"/>
            <a:ext cx="105156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u="none" cap="none" strike="noStrike">
                <a:solidFill>
                  <a:srgbClr val="111E33"/>
                </a:solidFill>
                <a:latin typeface="Calibri"/>
                <a:ea typeface="Calibri"/>
                <a:cs typeface="Calibri"/>
                <a:sym typeface="Calibri"/>
              </a:rPr>
              <a:t>Livré depuis la dernière revue</a:t>
            </a:r>
            <a:endParaRPr/>
          </a:p>
        </p:txBody>
      </p:sp>
      <p:sp>
        <p:nvSpPr>
          <p:cNvPr id="387" name="Google Shape;387;p15"/>
          <p:cNvSpPr/>
          <p:nvPr/>
        </p:nvSpPr>
        <p:spPr>
          <a:xfrm>
            <a:off x="548640" y="1207008"/>
            <a:ext cx="822960" cy="36576"/>
          </a:xfrm>
          <a:prstGeom prst="rect">
            <a:avLst/>
          </a:prstGeom>
          <a:solidFill>
            <a:srgbClr val="E874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8" name="Google Shape;388;p15"/>
          <p:cNvSpPr/>
          <p:nvPr/>
        </p:nvSpPr>
        <p:spPr>
          <a:xfrm>
            <a:off x="0" y="6537960"/>
            <a:ext cx="12191695" cy="91440"/>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9" name="Google Shape;389;p15"/>
          <p:cNvSpPr txBox="1"/>
          <p:nvPr/>
        </p:nvSpPr>
        <p:spPr>
          <a:xfrm>
            <a:off x="365760" y="6565392"/>
            <a:ext cx="54864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A6372"/>
                </a:solidFill>
                <a:latin typeface="Calibri"/>
                <a:ea typeface="Calibri"/>
                <a:cs typeface="Calibri"/>
                <a:sym typeface="Calibri"/>
              </a:rPr>
              <a:t>NYC Taxi Ride Demand &amp; Opportunity MLOps</a:t>
            </a:r>
            <a:endParaRPr/>
          </a:p>
        </p:txBody>
      </p:sp>
      <p:sp>
        <p:nvSpPr>
          <p:cNvPr id="390" name="Google Shape;390;p15"/>
          <p:cNvSpPr txBox="1"/>
          <p:nvPr/>
        </p:nvSpPr>
        <p:spPr>
          <a:xfrm>
            <a:off x="9994392" y="6565392"/>
            <a:ext cx="1828800"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A6372"/>
                </a:solidFill>
                <a:latin typeface="Calibri"/>
                <a:ea typeface="Calibri"/>
                <a:cs typeface="Calibri"/>
                <a:sym typeface="Calibri"/>
              </a:rPr>
              <a:t>15 / 17</a:t>
            </a:r>
            <a:endParaRPr/>
          </a:p>
        </p:txBody>
      </p:sp>
      <p:sp>
        <p:nvSpPr>
          <p:cNvPr id="391" name="Google Shape;391;p15"/>
          <p:cNvSpPr/>
          <p:nvPr/>
        </p:nvSpPr>
        <p:spPr>
          <a:xfrm>
            <a:off x="548640" y="1737360"/>
            <a:ext cx="3611880" cy="2103120"/>
          </a:xfrm>
          <a:prstGeom prst="roundRect">
            <a:avLst>
              <a:gd fmla="val 8000" name="adj"/>
            </a:avLst>
          </a:prstGeom>
          <a:solidFill>
            <a:srgbClr val="F4F5F7"/>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2" name="Google Shape;392;p15"/>
          <p:cNvSpPr/>
          <p:nvPr/>
        </p:nvSpPr>
        <p:spPr>
          <a:xfrm>
            <a:off x="548640" y="1737360"/>
            <a:ext cx="64008" cy="2103120"/>
          </a:xfrm>
          <a:prstGeom prst="rect">
            <a:avLst/>
          </a:prstGeom>
          <a:solidFill>
            <a:srgbClr val="2E5C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3" name="Google Shape;393;p15"/>
          <p:cNvSpPr txBox="1"/>
          <p:nvPr/>
        </p:nvSpPr>
        <p:spPr>
          <a:xfrm>
            <a:off x="777240" y="1901952"/>
            <a:ext cx="32004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111E33"/>
                </a:solidFill>
                <a:latin typeface="Calibri"/>
                <a:ea typeface="Calibri"/>
                <a:cs typeface="Calibri"/>
                <a:sym typeface="Calibri"/>
              </a:rPr>
              <a:t>Features mensuelles incrémentales</a:t>
            </a:r>
            <a:endParaRPr/>
          </a:p>
        </p:txBody>
      </p:sp>
      <p:sp>
        <p:nvSpPr>
          <p:cNvPr id="394" name="Google Shape;394;p15"/>
          <p:cNvSpPr txBox="1"/>
          <p:nvPr/>
        </p:nvSpPr>
        <p:spPr>
          <a:xfrm>
            <a:off x="777240" y="2359152"/>
            <a:ext cx="3200400" cy="677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u="none" cap="none" strike="noStrike">
                <a:solidFill>
                  <a:srgbClr val="5A6372"/>
                </a:solidFill>
                <a:latin typeface="Calibri"/>
                <a:ea typeface="Calibri"/>
                <a:cs typeface="Calibri"/>
                <a:sym typeface="Calibri"/>
              </a:rPr>
              <a:t>features.py traite désormais un seul TARGET_MONTH plus un mois de recul via DuckDB, puis met à jour ce mois dans le feature store S3 </a:t>
            </a:r>
            <a:r>
              <a:rPr lang="en-US" sz="1100">
                <a:solidFill>
                  <a:srgbClr val="5A6372"/>
                </a:solidFill>
                <a:latin typeface="Calibri"/>
                <a:ea typeface="Calibri"/>
                <a:cs typeface="Calibri"/>
                <a:sym typeface="Calibri"/>
              </a:rPr>
              <a:t>-</a:t>
            </a:r>
            <a:r>
              <a:rPr b="0" i="0" lang="en-US" sz="1100" u="none" cap="none" strike="noStrike">
                <a:solidFill>
                  <a:srgbClr val="5A6372"/>
                </a:solidFill>
                <a:latin typeface="Calibri"/>
                <a:ea typeface="Calibri"/>
                <a:cs typeface="Calibri"/>
                <a:sym typeface="Calibri"/>
              </a:rPr>
              <a:t> la mémoire ne dépend plus de la totalité de l'historique conservé.</a:t>
            </a:r>
            <a:endParaRPr/>
          </a:p>
        </p:txBody>
      </p:sp>
      <p:sp>
        <p:nvSpPr>
          <p:cNvPr id="395" name="Google Shape;395;p15"/>
          <p:cNvSpPr/>
          <p:nvPr/>
        </p:nvSpPr>
        <p:spPr>
          <a:xfrm>
            <a:off x="4343400" y="1737360"/>
            <a:ext cx="3611880" cy="2103120"/>
          </a:xfrm>
          <a:prstGeom prst="roundRect">
            <a:avLst>
              <a:gd fmla="val 8000" name="adj"/>
            </a:avLst>
          </a:prstGeom>
          <a:solidFill>
            <a:srgbClr val="F4F5F7"/>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6" name="Google Shape;396;p15"/>
          <p:cNvSpPr/>
          <p:nvPr/>
        </p:nvSpPr>
        <p:spPr>
          <a:xfrm>
            <a:off x="4343400" y="1737360"/>
            <a:ext cx="64008" cy="2103120"/>
          </a:xfrm>
          <a:prstGeom prst="rect">
            <a:avLst/>
          </a:prstGeom>
          <a:solidFill>
            <a:srgbClr val="2E5C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7" name="Google Shape;397;p15"/>
          <p:cNvSpPr txBox="1"/>
          <p:nvPr/>
        </p:nvSpPr>
        <p:spPr>
          <a:xfrm>
            <a:off x="4572000" y="1901952"/>
            <a:ext cx="32004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111E33"/>
                </a:solidFill>
                <a:latin typeface="Calibri"/>
                <a:ea typeface="Calibri"/>
                <a:cs typeface="Calibri"/>
                <a:sym typeface="Calibri"/>
              </a:rPr>
              <a:t>Rétention sécurisée pour les rattrapages (backfill)</a:t>
            </a:r>
            <a:endParaRPr/>
          </a:p>
        </p:txBody>
      </p:sp>
      <p:sp>
        <p:nvSpPr>
          <p:cNvPr id="398" name="Google Shape;398;p15"/>
          <p:cNvSpPr txBox="1"/>
          <p:nvPr/>
        </p:nvSpPr>
        <p:spPr>
          <a:xfrm>
            <a:off x="4572000" y="2359152"/>
            <a:ext cx="3200400" cy="132587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u="none" cap="none" strike="noStrike">
                <a:solidFill>
                  <a:srgbClr val="5A6372"/>
                </a:solidFill>
                <a:latin typeface="Calibri"/>
                <a:ea typeface="Calibri"/>
                <a:cs typeface="Calibri"/>
                <a:sym typeface="Calibri"/>
              </a:rPr>
              <a:t>download.py ancre désormais la purge des mois sur max(dernier mois, mois le plus récent sur S3), si bien qu'un rattrapage exécuté dans le désordre ne peut plus supprimer des mois plus récents déjà uploadés.</a:t>
            </a:r>
            <a:endParaRPr/>
          </a:p>
        </p:txBody>
      </p:sp>
      <p:sp>
        <p:nvSpPr>
          <p:cNvPr id="399" name="Google Shape;399;p15"/>
          <p:cNvSpPr/>
          <p:nvPr/>
        </p:nvSpPr>
        <p:spPr>
          <a:xfrm>
            <a:off x="8138160" y="1737360"/>
            <a:ext cx="3611880" cy="2103120"/>
          </a:xfrm>
          <a:prstGeom prst="roundRect">
            <a:avLst>
              <a:gd fmla="val 8000" name="adj"/>
            </a:avLst>
          </a:prstGeom>
          <a:solidFill>
            <a:srgbClr val="F4F5F7"/>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0" name="Google Shape;400;p15"/>
          <p:cNvSpPr/>
          <p:nvPr/>
        </p:nvSpPr>
        <p:spPr>
          <a:xfrm>
            <a:off x="8138160" y="1737360"/>
            <a:ext cx="64008" cy="2103120"/>
          </a:xfrm>
          <a:prstGeom prst="rect">
            <a:avLst/>
          </a:prstGeom>
          <a:solidFill>
            <a:srgbClr val="2E5C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1" name="Google Shape;401;p15"/>
          <p:cNvSpPr txBox="1"/>
          <p:nvPr/>
        </p:nvSpPr>
        <p:spPr>
          <a:xfrm>
            <a:off x="8366760" y="1901952"/>
            <a:ext cx="32004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111E33"/>
                </a:solidFill>
                <a:latin typeface="Calibri"/>
                <a:ea typeface="Calibri"/>
                <a:cs typeface="Calibri"/>
                <a:sym typeface="Calibri"/>
              </a:rPr>
              <a:t>Limitation de débit de l'API de prévision</a:t>
            </a:r>
            <a:endParaRPr/>
          </a:p>
        </p:txBody>
      </p:sp>
      <p:sp>
        <p:nvSpPr>
          <p:cNvPr id="402" name="Google Shape;402;p15"/>
          <p:cNvSpPr txBox="1"/>
          <p:nvPr/>
        </p:nvSpPr>
        <p:spPr>
          <a:xfrm>
            <a:off x="8366760" y="2359152"/>
            <a:ext cx="3200400" cy="132587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u="none" cap="none" strike="noStrike">
                <a:solidFill>
                  <a:srgbClr val="5A6372"/>
                </a:solidFill>
                <a:latin typeface="Calibri"/>
                <a:ea typeface="Calibri"/>
                <a:cs typeface="Calibri"/>
                <a:sym typeface="Calibri"/>
              </a:rPr>
              <a:t>serve.py ajoute slowapi (5 req/min sur /forecast), une route racine légère, et des logs d'accès moins verbeux pour les pings de santé du Space HF.</a:t>
            </a:r>
            <a:endParaRPr/>
          </a:p>
        </p:txBody>
      </p:sp>
      <p:sp>
        <p:nvSpPr>
          <p:cNvPr id="403" name="Google Shape;403;p15"/>
          <p:cNvSpPr/>
          <p:nvPr/>
        </p:nvSpPr>
        <p:spPr>
          <a:xfrm>
            <a:off x="548640" y="3977639"/>
            <a:ext cx="3611880" cy="2103120"/>
          </a:xfrm>
          <a:prstGeom prst="roundRect">
            <a:avLst>
              <a:gd fmla="val 8000" name="adj"/>
            </a:avLst>
          </a:prstGeom>
          <a:solidFill>
            <a:srgbClr val="F4F5F7"/>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4" name="Google Shape;404;p15"/>
          <p:cNvSpPr/>
          <p:nvPr/>
        </p:nvSpPr>
        <p:spPr>
          <a:xfrm>
            <a:off x="548640" y="3977639"/>
            <a:ext cx="64008" cy="2103120"/>
          </a:xfrm>
          <a:prstGeom prst="rect">
            <a:avLst/>
          </a:prstGeom>
          <a:solidFill>
            <a:srgbClr val="2E5C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5" name="Google Shape;405;p15"/>
          <p:cNvSpPr txBox="1"/>
          <p:nvPr/>
        </p:nvSpPr>
        <p:spPr>
          <a:xfrm>
            <a:off x="777240" y="4142231"/>
            <a:ext cx="32004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111E33"/>
                </a:solidFill>
                <a:latin typeface="Calibri"/>
                <a:ea typeface="Calibri"/>
                <a:cs typeface="Calibri"/>
                <a:sym typeface="Calibri"/>
              </a:rPr>
              <a:t>Panneau API en direct dans le tableau de bord</a:t>
            </a:r>
            <a:endParaRPr/>
          </a:p>
        </p:txBody>
      </p:sp>
      <p:sp>
        <p:nvSpPr>
          <p:cNvPr id="406" name="Google Shape;406;p15"/>
          <p:cNvSpPr txBox="1"/>
          <p:nvPr/>
        </p:nvSpPr>
        <p:spPr>
          <a:xfrm>
            <a:off x="777240" y="4599431"/>
            <a:ext cx="3200400" cy="132587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u="none" cap="none" strike="noStrike">
                <a:solidFill>
                  <a:srgbClr val="5A6372"/>
                </a:solidFill>
                <a:latin typeface="Calibri"/>
                <a:ea typeface="Calibri"/>
                <a:cs typeface="Calibri"/>
                <a:sym typeface="Calibri"/>
              </a:rPr>
              <a:t>La barre latérale de app.py documente désormais l'API de prévision hébergée (lien vers la doc, requête d'exemple) à côté de la carte précalculée.</a:t>
            </a:r>
            <a:endParaRPr/>
          </a:p>
        </p:txBody>
      </p:sp>
      <p:sp>
        <p:nvSpPr>
          <p:cNvPr id="407" name="Google Shape;407;p15"/>
          <p:cNvSpPr/>
          <p:nvPr/>
        </p:nvSpPr>
        <p:spPr>
          <a:xfrm>
            <a:off x="4343400" y="3977639"/>
            <a:ext cx="3611880" cy="2103120"/>
          </a:xfrm>
          <a:prstGeom prst="roundRect">
            <a:avLst>
              <a:gd fmla="val 8000" name="adj"/>
            </a:avLst>
          </a:prstGeom>
          <a:solidFill>
            <a:srgbClr val="F4F5F7"/>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8" name="Google Shape;408;p15"/>
          <p:cNvSpPr/>
          <p:nvPr/>
        </p:nvSpPr>
        <p:spPr>
          <a:xfrm>
            <a:off x="4343400" y="3977639"/>
            <a:ext cx="64008" cy="2103120"/>
          </a:xfrm>
          <a:prstGeom prst="rect">
            <a:avLst/>
          </a:prstGeom>
          <a:solidFill>
            <a:srgbClr val="2E5C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9" name="Google Shape;409;p15"/>
          <p:cNvSpPr txBox="1"/>
          <p:nvPr/>
        </p:nvSpPr>
        <p:spPr>
          <a:xfrm>
            <a:off x="4572000" y="4142231"/>
            <a:ext cx="32004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111E33"/>
                </a:solidFill>
                <a:latin typeface="Calibri"/>
                <a:ea typeface="Calibri"/>
                <a:cs typeface="Calibri"/>
                <a:sym typeface="Calibri"/>
              </a:rPr>
              <a:t>MLflow déplacé vers un Space hébergé</a:t>
            </a:r>
            <a:endParaRPr/>
          </a:p>
        </p:txBody>
      </p:sp>
      <p:sp>
        <p:nvSpPr>
          <p:cNvPr id="410" name="Google Shape;410;p15"/>
          <p:cNvSpPr txBox="1"/>
          <p:nvPr/>
        </p:nvSpPr>
        <p:spPr>
          <a:xfrm>
            <a:off x="4572000" y="4599431"/>
            <a:ext cx="3200400" cy="132587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u="none" cap="none" strike="noStrike">
                <a:solidFill>
                  <a:srgbClr val="5A6372"/>
                </a:solidFill>
                <a:latin typeface="Calibri"/>
                <a:ea typeface="Calibri"/>
                <a:cs typeface="Calibri"/>
                <a:sym typeface="Calibri"/>
              </a:rPr>
              <a:t>EC2 ne fait plus tourner son propre conteneur MLflow — docker-compose.ec2.yml pointe désormais vers un Space Hugging Face privé adossé à Neon Postgres, si bien que le suivi survit à l'arrêt/redémarrage de l'instance.</a:t>
            </a:r>
            <a:endParaRPr/>
          </a:p>
        </p:txBody>
      </p:sp>
      <p:sp>
        <p:nvSpPr>
          <p:cNvPr id="411" name="Google Shape;411;p15"/>
          <p:cNvSpPr/>
          <p:nvPr/>
        </p:nvSpPr>
        <p:spPr>
          <a:xfrm>
            <a:off x="8138160" y="3977639"/>
            <a:ext cx="3611880" cy="2103120"/>
          </a:xfrm>
          <a:prstGeom prst="roundRect">
            <a:avLst>
              <a:gd fmla="val 8000" name="adj"/>
            </a:avLst>
          </a:prstGeom>
          <a:solidFill>
            <a:srgbClr val="F4F5F7"/>
          </a:solidFill>
          <a:ln>
            <a:noFill/>
          </a:ln>
        </p:spPr>
        <p:txBody>
          <a:bodyPr anchorCtr="0" anchor="ctr" bIns="27425" lIns="73150" spcFirstLastPara="1" rIns="73150" wrap="square" tIns="27425">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2" name="Google Shape;412;p15"/>
          <p:cNvSpPr/>
          <p:nvPr/>
        </p:nvSpPr>
        <p:spPr>
          <a:xfrm>
            <a:off x="8138160" y="3977639"/>
            <a:ext cx="64008" cy="2103120"/>
          </a:xfrm>
          <a:prstGeom prst="rect">
            <a:avLst/>
          </a:prstGeom>
          <a:solidFill>
            <a:srgbClr val="2E5CB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15"/>
          <p:cNvSpPr txBox="1"/>
          <p:nvPr/>
        </p:nvSpPr>
        <p:spPr>
          <a:xfrm>
            <a:off x="8366760" y="4142231"/>
            <a:ext cx="32004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111E33"/>
                </a:solidFill>
                <a:latin typeface="Calibri"/>
                <a:ea typeface="Calibri"/>
                <a:cs typeface="Calibri"/>
                <a:sym typeface="Calibri"/>
              </a:rPr>
              <a:t>Mémoire DuckDB plafonnée</a:t>
            </a:r>
            <a:endParaRPr/>
          </a:p>
        </p:txBody>
      </p:sp>
      <p:sp>
        <p:nvSpPr>
          <p:cNvPr id="414" name="Google Shape;414;p15"/>
          <p:cNvSpPr txBox="1"/>
          <p:nvPr/>
        </p:nvSpPr>
        <p:spPr>
          <a:xfrm>
            <a:off x="8366760" y="4599431"/>
            <a:ext cx="3200400" cy="132587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u="none" cap="none" strike="noStrike">
                <a:solidFill>
                  <a:srgbClr val="5A6372"/>
                </a:solidFill>
                <a:latin typeface="Calibri"/>
                <a:ea typeface="Calibri"/>
                <a:cs typeface="Calibri"/>
                <a:sym typeface="Calibri"/>
              </a:rPr>
              <a:t>features.py et merge.py plafonnent désormais DuckDB à une limite mémoire fixe avec débordement sur disque, plutôt que de risquer un OOM kill sur les gros joins.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16"/>
          <p:cNvSpPr txBox="1"/>
          <p:nvPr/>
        </p:nvSpPr>
        <p:spPr>
          <a:xfrm>
            <a:off x="548640" y="320040"/>
            <a:ext cx="86868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E8743B"/>
                </a:solidFill>
                <a:latin typeface="Calibri"/>
                <a:ea typeface="Calibri"/>
                <a:cs typeface="Calibri"/>
                <a:sym typeface="Calibri"/>
              </a:rPr>
              <a:t>10. FEUILLE DE ROUTE</a:t>
            </a:r>
            <a:endParaRPr/>
          </a:p>
        </p:txBody>
      </p:sp>
      <p:sp>
        <p:nvSpPr>
          <p:cNvPr id="420" name="Google Shape;420;p16"/>
          <p:cNvSpPr txBox="1"/>
          <p:nvPr/>
        </p:nvSpPr>
        <p:spPr>
          <a:xfrm>
            <a:off x="548640" y="621792"/>
            <a:ext cx="105156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u="none" cap="none" strike="noStrike">
                <a:solidFill>
                  <a:srgbClr val="111E33"/>
                </a:solidFill>
                <a:latin typeface="Calibri"/>
                <a:ea typeface="Calibri"/>
                <a:cs typeface="Calibri"/>
                <a:sym typeface="Calibri"/>
              </a:rPr>
              <a:t>Prochaines étapes</a:t>
            </a:r>
            <a:endParaRPr/>
          </a:p>
        </p:txBody>
      </p:sp>
      <p:sp>
        <p:nvSpPr>
          <p:cNvPr id="421" name="Google Shape;421;p16"/>
          <p:cNvSpPr txBox="1"/>
          <p:nvPr/>
        </p:nvSpPr>
        <p:spPr>
          <a:xfrm>
            <a:off x="548640" y="1207008"/>
            <a:ext cx="105156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A6372"/>
                </a:solidFill>
                <a:latin typeface="Calibri"/>
                <a:ea typeface="Calibri"/>
                <a:cs typeface="Calibri"/>
                <a:sym typeface="Calibri"/>
              </a:rPr>
              <a:t>Limites connues, assumées en toute transparence</a:t>
            </a:r>
            <a:endParaRPr/>
          </a:p>
        </p:txBody>
      </p:sp>
      <p:sp>
        <p:nvSpPr>
          <p:cNvPr id="422" name="Google Shape;422;p16"/>
          <p:cNvSpPr/>
          <p:nvPr/>
        </p:nvSpPr>
        <p:spPr>
          <a:xfrm>
            <a:off x="548640" y="1481328"/>
            <a:ext cx="822960" cy="36576"/>
          </a:xfrm>
          <a:prstGeom prst="rect">
            <a:avLst/>
          </a:prstGeom>
          <a:solidFill>
            <a:srgbClr val="E874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3" name="Google Shape;423;p16"/>
          <p:cNvSpPr/>
          <p:nvPr/>
        </p:nvSpPr>
        <p:spPr>
          <a:xfrm>
            <a:off x="0" y="6537960"/>
            <a:ext cx="12191695" cy="91440"/>
          </a:xfrm>
          <a:prstGeom prst="rect">
            <a:avLst/>
          </a:prstGeom>
          <a:solidFill>
            <a:srgbClr val="F4F5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4" name="Google Shape;424;p16"/>
          <p:cNvSpPr txBox="1"/>
          <p:nvPr/>
        </p:nvSpPr>
        <p:spPr>
          <a:xfrm>
            <a:off x="365760" y="6565392"/>
            <a:ext cx="54864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u="none" cap="none" strike="noStrike">
                <a:solidFill>
                  <a:srgbClr val="5A6372"/>
                </a:solidFill>
                <a:latin typeface="Calibri"/>
                <a:ea typeface="Calibri"/>
                <a:cs typeface="Calibri"/>
                <a:sym typeface="Calibri"/>
              </a:rPr>
              <a:t>NYC Taxi Ride Demand &amp; Opportunity MLOps</a:t>
            </a:r>
            <a:endParaRPr/>
          </a:p>
        </p:txBody>
      </p:sp>
      <p:sp>
        <p:nvSpPr>
          <p:cNvPr id="425" name="Google Shape;425;p16"/>
          <p:cNvSpPr txBox="1"/>
          <p:nvPr/>
        </p:nvSpPr>
        <p:spPr>
          <a:xfrm>
            <a:off x="9994392" y="6565392"/>
            <a:ext cx="1828800"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000" u="none" cap="none" strike="noStrike">
                <a:solidFill>
                  <a:srgbClr val="5A6372"/>
                </a:solidFill>
                <a:latin typeface="Calibri"/>
                <a:ea typeface="Calibri"/>
                <a:cs typeface="Calibri"/>
                <a:sym typeface="Calibri"/>
              </a:rPr>
              <a:t>16 / 17</a:t>
            </a:r>
            <a:endParaRPr/>
          </a:p>
        </p:txBody>
      </p:sp>
      <p:sp>
        <p:nvSpPr>
          <p:cNvPr id="426" name="Google Shape;426;p16"/>
          <p:cNvSpPr txBox="1"/>
          <p:nvPr/>
        </p:nvSpPr>
        <p:spPr>
          <a:xfrm>
            <a:off x="731520" y="1874519"/>
            <a:ext cx="105156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50" u="none" cap="none" strike="noStrike">
                <a:solidFill>
                  <a:srgbClr val="2E5CB8"/>
                </a:solidFill>
                <a:latin typeface="Calibri"/>
                <a:ea typeface="Calibri"/>
                <a:cs typeface="Calibri"/>
                <a:sym typeface="Calibri"/>
              </a:rPr>
              <a:t>Supervision automatisée de la dérive du modèle</a:t>
            </a:r>
            <a:endParaRPr/>
          </a:p>
        </p:txBody>
      </p:sp>
      <p:sp>
        <p:nvSpPr>
          <p:cNvPr id="427" name="Google Shape;427;p16"/>
          <p:cNvSpPr txBox="1"/>
          <p:nvPr/>
        </p:nvSpPr>
        <p:spPr>
          <a:xfrm>
            <a:off x="731520" y="2240279"/>
            <a:ext cx="10515600"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111E33"/>
                </a:solidFill>
                <a:latin typeface="Calibri"/>
                <a:ea typeface="Calibri"/>
                <a:cs typeface="Calibri"/>
                <a:sym typeface="Calibri"/>
              </a:rPr>
              <a:t>Le réentraînement est mensuel, manuel ou planifié uniquement ; rien n'indique aujourd'hui qu'un modèle en production a perdu en précision entre deux entraînements.</a:t>
            </a:r>
            <a:endParaRPr/>
          </a:p>
        </p:txBody>
      </p:sp>
      <p:sp>
        <p:nvSpPr>
          <p:cNvPr id="428" name="Google Shape;428;p16"/>
          <p:cNvSpPr txBox="1"/>
          <p:nvPr/>
        </p:nvSpPr>
        <p:spPr>
          <a:xfrm>
            <a:off x="731520" y="2926079"/>
            <a:ext cx="105156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50" u="none" cap="none" strike="noStrike">
                <a:solidFill>
                  <a:srgbClr val="2E5CB8"/>
                </a:solidFill>
                <a:latin typeface="Calibri"/>
                <a:ea typeface="Calibri"/>
                <a:cs typeface="Calibri"/>
                <a:sym typeface="Calibri"/>
              </a:rPr>
              <a:t>Couverture de tests au-delà de la validation des données</a:t>
            </a:r>
            <a:endParaRPr/>
          </a:p>
        </p:txBody>
      </p:sp>
      <p:sp>
        <p:nvSpPr>
          <p:cNvPr id="429" name="Google Shape;429;p16"/>
          <p:cNvSpPr txBox="1"/>
          <p:nvPr/>
        </p:nvSpPr>
        <p:spPr>
          <a:xfrm>
            <a:off x="731520" y="3291839"/>
            <a:ext cx="10515600"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111E33"/>
                </a:solidFill>
                <a:latin typeface="Calibri"/>
                <a:ea typeface="Calibri"/>
                <a:cs typeface="Calibri"/>
                <a:sym typeface="Calibri"/>
              </a:rPr>
              <a:t>tests/test_data_validation_*.py couvrent les données ingérées ; les DAGs, l'API et le tableau de bord sont encore testés manuellement.</a:t>
            </a:r>
            <a:endParaRPr/>
          </a:p>
        </p:txBody>
      </p:sp>
      <p:sp>
        <p:nvSpPr>
          <p:cNvPr id="430" name="Google Shape;430;p16"/>
          <p:cNvSpPr txBox="1"/>
          <p:nvPr/>
        </p:nvSpPr>
        <p:spPr>
          <a:xfrm>
            <a:off x="731520" y="3977639"/>
            <a:ext cx="105156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50" u="none" cap="none" strike="noStrike">
                <a:solidFill>
                  <a:srgbClr val="2E5CB8"/>
                </a:solidFill>
                <a:latin typeface="Calibri"/>
                <a:ea typeface="Calibri"/>
                <a:cs typeface="Calibri"/>
                <a:sym typeface="Calibri"/>
              </a:rPr>
              <a:t>Une seule instance EC2, un seul bucket S3</a:t>
            </a:r>
            <a:endParaRPr/>
          </a:p>
        </p:txBody>
      </p:sp>
      <p:sp>
        <p:nvSpPr>
          <p:cNvPr id="431" name="Google Shape;431;p16"/>
          <p:cNvSpPr txBox="1"/>
          <p:nvPr/>
        </p:nvSpPr>
        <p:spPr>
          <a:xfrm>
            <a:off x="731520" y="4343400"/>
            <a:ext cx="105156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111E33"/>
                </a:solidFill>
                <a:latin typeface="Calibri"/>
                <a:ea typeface="Calibri"/>
                <a:cs typeface="Calibri"/>
                <a:sym typeface="Calibri"/>
              </a:rPr>
              <a:t>Aucune redondance aujourd'hui </a:t>
            </a:r>
            <a:r>
              <a:rPr lang="en-US" sz="1200">
                <a:solidFill>
                  <a:srgbClr val="111E33"/>
                </a:solidFill>
                <a:latin typeface="Calibri"/>
                <a:ea typeface="Calibri"/>
                <a:cs typeface="Calibri"/>
                <a:sym typeface="Calibri"/>
              </a:rPr>
              <a:t>- </a:t>
            </a:r>
            <a:r>
              <a:rPr b="0" i="0" lang="en-US" sz="1200" u="none" cap="none" strike="noStrike">
                <a:solidFill>
                  <a:srgbClr val="111E33"/>
                </a:solidFill>
                <a:latin typeface="Calibri"/>
                <a:ea typeface="Calibri"/>
                <a:cs typeface="Calibri"/>
                <a:sym typeface="Calibri"/>
              </a:rPr>
              <a:t>un problème sur l'instance ou le bucket bloque le run mensuel jusqu'à une correction manuelle.</a:t>
            </a:r>
            <a:endParaRPr/>
          </a:p>
        </p:txBody>
      </p:sp>
      <p:sp>
        <p:nvSpPr>
          <p:cNvPr id="432" name="Google Shape;432;p16"/>
          <p:cNvSpPr txBox="1"/>
          <p:nvPr/>
        </p:nvSpPr>
        <p:spPr>
          <a:xfrm>
            <a:off x="731520" y="5029200"/>
            <a:ext cx="105156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50" u="none" cap="none" strike="noStrike">
                <a:solidFill>
                  <a:srgbClr val="2E5CB8"/>
                </a:solidFill>
                <a:latin typeface="Calibri"/>
                <a:ea typeface="Calibri"/>
                <a:cs typeface="Calibri"/>
                <a:sym typeface="Calibri"/>
              </a:rPr>
              <a:t>Rafraîchissement plus fréquent que mensuel</a:t>
            </a:r>
            <a:endParaRPr/>
          </a:p>
        </p:txBody>
      </p:sp>
      <p:sp>
        <p:nvSpPr>
          <p:cNvPr id="433" name="Google Shape;433;p16"/>
          <p:cNvSpPr txBox="1"/>
          <p:nvPr/>
        </p:nvSpPr>
        <p:spPr>
          <a:xfrm>
            <a:off x="731520" y="5394960"/>
            <a:ext cx="10515600"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111E33"/>
                </a:solidFill>
                <a:latin typeface="Calibri"/>
                <a:ea typeface="Calibri"/>
                <a:cs typeface="Calibri"/>
                <a:sym typeface="Calibri"/>
              </a:rPr>
              <a:t>Le pipeline fonctionne en batch, une fois par mois ; un produit destiné aux chauffeurs voudrait probablement des rafraîchissements le jour même ou intra-journaliers dès l'arrivée de nouvelles données.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E33"/>
        </a:solidFill>
      </p:bgPr>
    </p:bg>
    <p:spTree>
      <p:nvGrpSpPr>
        <p:cNvPr id="437" name="Shape 437"/>
        <p:cNvGrpSpPr/>
        <p:nvPr/>
      </p:nvGrpSpPr>
      <p:grpSpPr>
        <a:xfrm>
          <a:off x="0" y="0"/>
          <a:ext cx="0" cy="0"/>
          <a:chOff x="0" y="0"/>
          <a:chExt cx="0" cy="0"/>
        </a:xfrm>
      </p:grpSpPr>
      <p:sp>
        <p:nvSpPr>
          <p:cNvPr id="438" name="Google Shape;438;p17"/>
          <p:cNvSpPr txBox="1"/>
          <p:nvPr/>
        </p:nvSpPr>
        <p:spPr>
          <a:xfrm>
            <a:off x="914400" y="2743200"/>
            <a:ext cx="10058400"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FFFFFF"/>
                </a:solidFill>
                <a:latin typeface="Calibri"/>
                <a:ea typeface="Calibri"/>
                <a:cs typeface="Calibri"/>
                <a:sym typeface="Calibri"/>
              </a:rPr>
              <a:t>Les données d'abord. Les recommandations classées ensuite.</a:t>
            </a:r>
            <a:endParaRPr/>
          </a:p>
        </p:txBody>
      </p:sp>
      <p:sp>
        <p:nvSpPr>
          <p:cNvPr id="439" name="Google Shape;439;p17"/>
          <p:cNvSpPr txBox="1"/>
          <p:nvPr/>
        </p:nvSpPr>
        <p:spPr>
          <a:xfrm>
            <a:off x="914400" y="3611880"/>
            <a:ext cx="960120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00" u="none" cap="none" strike="noStrike">
                <a:solidFill>
                  <a:srgbClr val="C9D3E6"/>
                </a:solidFill>
                <a:latin typeface="Calibri"/>
                <a:ea typeface="Calibri"/>
                <a:cs typeface="Calibri"/>
                <a:sym typeface="Calibri"/>
              </a:rPr>
              <a:t>Des données brutes de taxis new-yorkais et de météo à une recommandation horaire, classée et en direct, de l'endroit</a:t>
            </a:r>
            <a:endParaRPr/>
          </a:p>
          <a:p>
            <a:pPr indent="0" lvl="0" marL="0" marR="0" rtl="0" algn="l">
              <a:spcBef>
                <a:spcPts val="0"/>
              </a:spcBef>
              <a:spcAft>
                <a:spcPts val="0"/>
              </a:spcAft>
              <a:buNone/>
            </a:pPr>
            <a:r>
              <a:rPr b="0" i="0" lang="en-US" sz="1300" u="none" cap="none" strike="noStrike">
                <a:solidFill>
                  <a:srgbClr val="C9D3E6"/>
                </a:solidFill>
                <a:latin typeface="Calibri"/>
                <a:ea typeface="Calibri"/>
                <a:cs typeface="Calibri"/>
                <a:sym typeface="Calibri"/>
              </a:rPr>
              <a:t>où un chauffeur devrait se rendre — entièrement automatisé de bout en bout, déployable en local ou sous forme</a:t>
            </a:r>
            <a:endParaRPr/>
          </a:p>
          <a:p>
            <a:pPr indent="0" lvl="0" marL="0" marR="0" rtl="0" algn="l">
              <a:spcBef>
                <a:spcPts val="0"/>
              </a:spcBef>
              <a:spcAft>
                <a:spcPts val="0"/>
              </a:spcAft>
              <a:buNone/>
            </a:pPr>
            <a:r>
              <a:rPr b="0" i="0" lang="en-US" sz="1300" u="none" cap="none" strike="noStrike">
                <a:solidFill>
                  <a:srgbClr val="C9D3E6"/>
                </a:solidFill>
                <a:latin typeface="Calibri"/>
                <a:ea typeface="Calibri"/>
                <a:cs typeface="Calibri"/>
                <a:sym typeface="Calibri"/>
              </a:rPr>
              <a:t>d'instance EC2 planifiée à auto-arrêt.</a:t>
            </a:r>
            <a:endParaRPr/>
          </a:p>
        </p:txBody>
      </p:sp>
      <p:sp>
        <p:nvSpPr>
          <p:cNvPr id="440" name="Google Shape;440;p17"/>
          <p:cNvSpPr/>
          <p:nvPr/>
        </p:nvSpPr>
        <p:spPr>
          <a:xfrm>
            <a:off x="914400" y="4617720"/>
            <a:ext cx="10332720" cy="18288"/>
          </a:xfrm>
          <a:prstGeom prst="rect">
            <a:avLst/>
          </a:prstGeom>
          <a:solidFill>
            <a:srgbClr val="33415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1" name="Google Shape;441;p17"/>
          <p:cNvSpPr txBox="1"/>
          <p:nvPr/>
        </p:nvSpPr>
        <p:spPr>
          <a:xfrm>
            <a:off x="914400" y="4800600"/>
            <a:ext cx="1005840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5A6372"/>
                </a:solidFill>
                <a:latin typeface="Calibri"/>
                <a:ea typeface="Calibri"/>
                <a:cs typeface="Calibri"/>
                <a:sym typeface="Calibri"/>
              </a:rPr>
              <a:t>README.md  •  LOCAL_SETUP.md  •  EC2_SETUP.md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